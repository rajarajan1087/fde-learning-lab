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7" r:id="rId17"/>
    <p:sldId id="271" r:id="rId18"/>
    <p:sldId id="272" r:id="rId19"/>
    <p:sldId id="273" r:id="rId20"/>
    <p:sldId id="274" r:id="rId21"/>
    <p:sldId id="278" r:id="rId22"/>
    <p:sldId id="276" r:id="rId23"/>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A250E0-D9E7-4443-98DB-82BBC2368E32}" v="15" dt="2026-05-14T12:51:57.40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rajan Venkatesan" userId="aa61feb63f01dd5a" providerId="LiveId" clId="{661ADD45-A5DE-4EA9-AEA3-B4948C462A20}"/>
    <pc:docChg chg="custSel addSld delSld modSld">
      <pc:chgData name="Rajarajan Venkatesan" userId="aa61feb63f01dd5a" providerId="LiveId" clId="{661ADD45-A5DE-4EA9-AEA3-B4948C462A20}" dt="2026-05-16T05:39:05.850" v="562" actId="47"/>
      <pc:docMkLst>
        <pc:docMk/>
      </pc:docMkLst>
      <pc:sldChg chg="modSp mod">
        <pc:chgData name="Rajarajan Venkatesan" userId="aa61feb63f01dd5a" providerId="LiveId" clId="{661ADD45-A5DE-4EA9-AEA3-B4948C462A20}" dt="2026-05-16T05:22:05.256" v="559" actId="20577"/>
        <pc:sldMkLst>
          <pc:docMk/>
          <pc:sldMk cId="0" sldId="259"/>
        </pc:sldMkLst>
        <pc:spChg chg="mod">
          <ac:chgData name="Rajarajan Venkatesan" userId="aa61feb63f01dd5a" providerId="LiveId" clId="{661ADD45-A5DE-4EA9-AEA3-B4948C462A20}" dt="2026-05-16T05:22:05.256" v="559" actId="20577"/>
          <ac:spMkLst>
            <pc:docMk/>
            <pc:sldMk cId="0" sldId="259"/>
            <ac:spMk id="70" creationId="{00000000-0000-0000-0000-000000000000}"/>
          </ac:spMkLst>
        </pc:spChg>
      </pc:sldChg>
      <pc:sldChg chg="modSp mod">
        <pc:chgData name="Rajarajan Venkatesan" userId="aa61feb63f01dd5a" providerId="LiveId" clId="{661ADD45-A5DE-4EA9-AEA3-B4948C462A20}" dt="2026-05-13T12:39:07.175" v="4" actId="255"/>
        <pc:sldMkLst>
          <pc:docMk/>
          <pc:sldMk cId="0" sldId="262"/>
        </pc:sldMkLst>
        <pc:spChg chg="mod">
          <ac:chgData name="Rajarajan Venkatesan" userId="aa61feb63f01dd5a" providerId="LiveId" clId="{661ADD45-A5DE-4EA9-AEA3-B4948C462A20}" dt="2026-05-13T12:39:07.175" v="4" actId="255"/>
          <ac:spMkLst>
            <pc:docMk/>
            <pc:sldMk cId="0" sldId="262"/>
            <ac:spMk id="158" creationId="{00000000-0000-0000-0000-000000000000}"/>
          </ac:spMkLst>
        </pc:spChg>
      </pc:sldChg>
      <pc:sldChg chg="modSp mod">
        <pc:chgData name="Rajarajan Venkatesan" userId="aa61feb63f01dd5a" providerId="LiveId" clId="{661ADD45-A5DE-4EA9-AEA3-B4948C462A20}" dt="2026-05-13T12:42:03.575" v="17" actId="20577"/>
        <pc:sldMkLst>
          <pc:docMk/>
          <pc:sldMk cId="0" sldId="264"/>
        </pc:sldMkLst>
        <pc:spChg chg="mod">
          <ac:chgData name="Rajarajan Venkatesan" userId="aa61feb63f01dd5a" providerId="LiveId" clId="{661ADD45-A5DE-4EA9-AEA3-B4948C462A20}" dt="2026-05-13T12:42:03.575" v="17" actId="20577"/>
          <ac:spMkLst>
            <pc:docMk/>
            <pc:sldMk cId="0" sldId="264"/>
            <ac:spMk id="192" creationId="{00000000-0000-0000-0000-000000000000}"/>
          </ac:spMkLst>
        </pc:spChg>
      </pc:sldChg>
      <pc:sldChg chg="modSp mod">
        <pc:chgData name="Rajarajan Venkatesan" userId="aa61feb63f01dd5a" providerId="LiveId" clId="{661ADD45-A5DE-4EA9-AEA3-B4948C462A20}" dt="2026-05-13T16:23:00.772" v="190" actId="1076"/>
        <pc:sldMkLst>
          <pc:docMk/>
          <pc:sldMk cId="0" sldId="266"/>
        </pc:sldMkLst>
        <pc:spChg chg="mod">
          <ac:chgData name="Rajarajan Venkatesan" userId="aa61feb63f01dd5a" providerId="LiveId" clId="{661ADD45-A5DE-4EA9-AEA3-B4948C462A20}" dt="2026-05-13T16:23:00.772" v="190" actId="1076"/>
          <ac:spMkLst>
            <pc:docMk/>
            <pc:sldMk cId="0" sldId="266"/>
            <ac:spMk id="226" creationId="{00000000-0000-0000-0000-000000000000}"/>
          </ac:spMkLst>
        </pc:spChg>
      </pc:sldChg>
      <pc:sldChg chg="modSp mod">
        <pc:chgData name="Rajarajan Venkatesan" userId="aa61feb63f01dd5a" providerId="LiveId" clId="{661ADD45-A5DE-4EA9-AEA3-B4948C462A20}" dt="2026-05-13T16:23:50.925" v="191" actId="1076"/>
        <pc:sldMkLst>
          <pc:docMk/>
          <pc:sldMk cId="0" sldId="267"/>
        </pc:sldMkLst>
        <pc:spChg chg="mod">
          <ac:chgData name="Rajarajan Venkatesan" userId="aa61feb63f01dd5a" providerId="LiveId" clId="{661ADD45-A5DE-4EA9-AEA3-B4948C462A20}" dt="2026-05-13T16:23:50.925" v="191" actId="1076"/>
          <ac:spMkLst>
            <pc:docMk/>
            <pc:sldMk cId="0" sldId="267"/>
            <ac:spMk id="233" creationId="{00000000-0000-0000-0000-000000000000}"/>
          </ac:spMkLst>
        </pc:spChg>
      </pc:sldChg>
      <pc:sldChg chg="delSp modSp mod">
        <pc:chgData name="Rajarajan Venkatesan" userId="aa61feb63f01dd5a" providerId="LiveId" clId="{661ADD45-A5DE-4EA9-AEA3-B4948C462A20}" dt="2026-05-13T16:26:18.256" v="195" actId="478"/>
        <pc:sldMkLst>
          <pc:docMk/>
          <pc:sldMk cId="0" sldId="268"/>
        </pc:sldMkLst>
        <pc:spChg chg="mod">
          <ac:chgData name="Rajarajan Venkatesan" userId="aa61feb63f01dd5a" providerId="LiveId" clId="{661ADD45-A5DE-4EA9-AEA3-B4948C462A20}" dt="2026-05-13T16:26:12.357" v="193" actId="20577"/>
          <ac:spMkLst>
            <pc:docMk/>
            <pc:sldMk cId="0" sldId="268"/>
            <ac:spMk id="253" creationId="{00000000-0000-0000-0000-000000000000}"/>
          </ac:spMkLst>
        </pc:spChg>
      </pc:sldChg>
      <pc:sldChg chg="delSp modSp mod">
        <pc:chgData name="Rajarajan Venkatesan" userId="aa61feb63f01dd5a" providerId="LiveId" clId="{661ADD45-A5DE-4EA9-AEA3-B4948C462A20}" dt="2026-05-13T16:32:17.438" v="213" actId="108"/>
        <pc:sldMkLst>
          <pc:docMk/>
          <pc:sldMk cId="0" sldId="270"/>
        </pc:sldMkLst>
        <pc:spChg chg="mod">
          <ac:chgData name="Rajarajan Venkatesan" userId="aa61feb63f01dd5a" providerId="LiveId" clId="{661ADD45-A5DE-4EA9-AEA3-B4948C462A20}" dt="2026-05-13T16:32:17.438" v="213" actId="108"/>
          <ac:spMkLst>
            <pc:docMk/>
            <pc:sldMk cId="0" sldId="270"/>
            <ac:spMk id="286" creationId="{00000000-0000-0000-0000-000000000000}"/>
          </ac:spMkLst>
        </pc:spChg>
      </pc:sldChg>
      <pc:sldChg chg="modSp">
        <pc:chgData name="Rajarajan Venkatesan" userId="aa61feb63f01dd5a" providerId="LiveId" clId="{661ADD45-A5DE-4EA9-AEA3-B4948C462A20}" dt="2026-05-13T16:42:25.521" v="225"/>
        <pc:sldMkLst>
          <pc:docMk/>
          <pc:sldMk cId="0" sldId="271"/>
        </pc:sldMkLst>
        <pc:spChg chg="mod">
          <ac:chgData name="Rajarajan Venkatesan" userId="aa61feb63f01dd5a" providerId="LiveId" clId="{661ADD45-A5DE-4EA9-AEA3-B4948C462A20}" dt="2026-05-13T16:42:25.521" v="225"/>
          <ac:spMkLst>
            <pc:docMk/>
            <pc:sldMk cId="0" sldId="271"/>
            <ac:spMk id="293" creationId="{00000000-0000-0000-0000-000000000000}"/>
          </ac:spMkLst>
        </pc:spChg>
      </pc:sldChg>
      <pc:sldChg chg="modSp mod">
        <pc:chgData name="Rajarajan Venkatesan" userId="aa61feb63f01dd5a" providerId="LiveId" clId="{661ADD45-A5DE-4EA9-AEA3-B4948C462A20}" dt="2026-05-13T16:52:22.274" v="249" actId="6549"/>
        <pc:sldMkLst>
          <pc:docMk/>
          <pc:sldMk cId="0" sldId="272"/>
        </pc:sldMkLst>
        <pc:spChg chg="mod">
          <ac:chgData name="Rajarajan Venkatesan" userId="aa61feb63f01dd5a" providerId="LiveId" clId="{661ADD45-A5DE-4EA9-AEA3-B4948C462A20}" dt="2026-05-13T16:52:22.274" v="249" actId="6549"/>
          <ac:spMkLst>
            <pc:docMk/>
            <pc:sldMk cId="0" sldId="272"/>
            <ac:spMk id="310" creationId="{00000000-0000-0000-0000-000000000000}"/>
          </ac:spMkLst>
        </pc:spChg>
      </pc:sldChg>
      <pc:sldChg chg="modSp mod">
        <pc:chgData name="Rajarajan Venkatesan" userId="aa61feb63f01dd5a" providerId="LiveId" clId="{661ADD45-A5DE-4EA9-AEA3-B4948C462A20}" dt="2026-05-13T16:57:24.892" v="253" actId="255"/>
        <pc:sldMkLst>
          <pc:docMk/>
          <pc:sldMk cId="0" sldId="273"/>
        </pc:sldMkLst>
        <pc:spChg chg="mod">
          <ac:chgData name="Rajarajan Venkatesan" userId="aa61feb63f01dd5a" providerId="LiveId" clId="{661ADD45-A5DE-4EA9-AEA3-B4948C462A20}" dt="2026-05-13T16:57:24.892" v="253" actId="255"/>
          <ac:spMkLst>
            <pc:docMk/>
            <pc:sldMk cId="0" sldId="273"/>
            <ac:spMk id="317" creationId="{00000000-0000-0000-0000-000000000000}"/>
          </ac:spMkLst>
        </pc:spChg>
      </pc:sldChg>
      <pc:sldChg chg="modSp del mod">
        <pc:chgData name="Rajarajan Venkatesan" userId="aa61feb63f01dd5a" providerId="LiveId" clId="{661ADD45-A5DE-4EA9-AEA3-B4948C462A20}" dt="2026-05-16T05:38:47.978" v="560" actId="2696"/>
        <pc:sldMkLst>
          <pc:docMk/>
          <pc:sldMk cId="0" sldId="275"/>
        </pc:sldMkLst>
      </pc:sldChg>
      <pc:sldChg chg="addSp modSp new mod">
        <pc:chgData name="Rajarajan Venkatesan" userId="aa61feb63f01dd5a" providerId="LiveId" clId="{661ADD45-A5DE-4EA9-AEA3-B4948C462A20}" dt="2026-05-13T16:34:28.337" v="223" actId="20577"/>
        <pc:sldMkLst>
          <pc:docMk/>
          <pc:sldMk cId="3075718649" sldId="277"/>
        </pc:sldMkLst>
        <pc:spChg chg="add mod">
          <ac:chgData name="Rajarajan Venkatesan" userId="aa61feb63f01dd5a" providerId="LiveId" clId="{661ADD45-A5DE-4EA9-AEA3-B4948C462A20}" dt="2026-05-13T16:31:42.975" v="205"/>
          <ac:spMkLst>
            <pc:docMk/>
            <pc:sldMk cId="3075718649" sldId="277"/>
            <ac:spMk id="2" creationId="{D9CA48FF-E90C-1016-C4D9-C97BDAF0E14C}"/>
          </ac:spMkLst>
        </pc:spChg>
        <pc:spChg chg="add mod">
          <ac:chgData name="Rajarajan Venkatesan" userId="aa61feb63f01dd5a" providerId="LiveId" clId="{661ADD45-A5DE-4EA9-AEA3-B4948C462A20}" dt="2026-05-13T16:31:42.975" v="205"/>
          <ac:spMkLst>
            <pc:docMk/>
            <pc:sldMk cId="3075718649" sldId="277"/>
            <ac:spMk id="3" creationId="{50D06A65-3417-986E-BA6E-4DBC5B24F120}"/>
          </ac:spMkLst>
        </pc:spChg>
        <pc:spChg chg="add mod">
          <ac:chgData name="Rajarajan Venkatesan" userId="aa61feb63f01dd5a" providerId="LiveId" clId="{661ADD45-A5DE-4EA9-AEA3-B4948C462A20}" dt="2026-05-13T16:34:28.337" v="223" actId="20577"/>
          <ac:spMkLst>
            <pc:docMk/>
            <pc:sldMk cId="3075718649" sldId="277"/>
            <ac:spMk id="4" creationId="{C888064F-E844-A908-2FE1-657B263E7783}"/>
          </ac:spMkLst>
        </pc:spChg>
      </pc:sldChg>
      <pc:sldChg chg="modSp add mod">
        <pc:chgData name="Rajarajan Venkatesan" userId="aa61feb63f01dd5a" providerId="LiveId" clId="{661ADD45-A5DE-4EA9-AEA3-B4948C462A20}" dt="2026-05-14T12:52:35.278" v="283" actId="20577"/>
        <pc:sldMkLst>
          <pc:docMk/>
          <pc:sldMk cId="1792260896" sldId="278"/>
        </pc:sldMkLst>
        <pc:spChg chg="mod">
          <ac:chgData name="Rajarajan Venkatesan" userId="aa61feb63f01dd5a" providerId="LiveId" clId="{661ADD45-A5DE-4EA9-AEA3-B4948C462A20}" dt="2026-05-14T12:52:35.278" v="283" actId="20577"/>
          <ac:spMkLst>
            <pc:docMk/>
            <pc:sldMk cId="1792260896" sldId="278"/>
            <ac:spMk id="341" creationId="{DEE6AF69-FEE0-1613-9624-DE7E90E7406E}"/>
          </ac:spMkLst>
        </pc:spChg>
        <pc:spChg chg="mod">
          <ac:chgData name="Rajarajan Venkatesan" userId="aa61feb63f01dd5a" providerId="LiveId" clId="{661ADD45-A5DE-4EA9-AEA3-B4948C462A20}" dt="2026-05-14T12:52:25.121" v="273" actId="13926"/>
          <ac:spMkLst>
            <pc:docMk/>
            <pc:sldMk cId="1792260896" sldId="278"/>
            <ac:spMk id="342" creationId="{4083B498-C065-B1B4-2BA8-B0EC102FE458}"/>
          </ac:spMkLst>
        </pc:spChg>
      </pc:sldChg>
      <pc:sldChg chg="add del">
        <pc:chgData name="Rajarajan Venkatesan" userId="aa61feb63f01dd5a" providerId="LiveId" clId="{661ADD45-A5DE-4EA9-AEA3-B4948C462A20}" dt="2026-05-16T05:39:05.850" v="562" actId="47"/>
        <pc:sldMkLst>
          <pc:docMk/>
          <pc:sldMk cId="1962188970"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www.linkedin.com/in/suchit-bhatwadekar-5a78ab4"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www.linkedin.com/in/suchit-bhatwadekar-5a78ab4"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0"/>
          <p:cNvSpPr/>
          <p:nvPr/>
        </p:nvSpPr>
        <p:spPr>
          <a:xfrm>
            <a:off x="0" y="0"/>
            <a:ext cx="9144000" cy="54864"/>
          </a:xfrm>
          <a:prstGeom prst="rect">
            <a:avLst/>
          </a:prstGeom>
          <a:solidFill>
            <a:srgbClr val="D97706"/>
          </a:solidFill>
          <a:ln w="12700">
            <a:miter lim="400000"/>
          </a:ln>
        </p:spPr>
        <p:txBody>
          <a:bodyPr lIns="45719" rIns="45719"/>
          <a:lstStyle/>
          <a:p>
            <a:endParaRPr/>
          </a:p>
        </p:txBody>
      </p:sp>
      <p:sp>
        <p:nvSpPr>
          <p:cNvPr id="21" name="Text 1"/>
          <p:cNvSpPr txBox="1"/>
          <p:nvPr/>
        </p:nvSpPr>
        <p:spPr>
          <a:xfrm>
            <a:off x="777240" y="308523"/>
            <a:ext cx="758952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spc="300">
                <a:solidFill>
                  <a:srgbClr val="D97706"/>
                </a:solidFill>
              </a:defRPr>
            </a:lvl1pPr>
          </a:lstStyle>
          <a:p>
            <a:r>
              <a:t>Assignment </a:t>
            </a:r>
          </a:p>
        </p:txBody>
      </p:sp>
      <p:sp>
        <p:nvSpPr>
          <p:cNvPr id="22" name="Text 2"/>
          <p:cNvSpPr txBox="1"/>
          <p:nvPr/>
        </p:nvSpPr>
        <p:spPr>
          <a:xfrm>
            <a:off x="777240" y="627379"/>
            <a:ext cx="7589520" cy="574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3400" b="1">
                <a:solidFill>
                  <a:srgbClr val="1A1A2E"/>
                </a:solidFill>
                <a:latin typeface="Georgia"/>
                <a:ea typeface="Georgia"/>
                <a:cs typeface="Georgia"/>
                <a:sym typeface="Georgia"/>
              </a:defRPr>
            </a:lvl1pPr>
          </a:lstStyle>
          <a:p>
            <a:r>
              <a:t>Instruction </a:t>
            </a:r>
          </a:p>
        </p:txBody>
      </p:sp>
      <p:sp>
        <p:nvSpPr>
          <p:cNvPr id="23" name="Text 4"/>
          <p:cNvSpPr txBox="1"/>
          <p:nvPr/>
        </p:nvSpPr>
        <p:spPr>
          <a:xfrm>
            <a:off x="856069" y="1189736"/>
            <a:ext cx="7431862" cy="28705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a:solidFill>
                  <a:srgbClr val="1A1A2E"/>
                </a:solidFill>
              </a:defRPr>
            </a:pPr>
            <a:r>
              <a:t>Hi All, </a:t>
            </a:r>
          </a:p>
          <a:p>
            <a:pPr>
              <a:defRPr>
                <a:solidFill>
                  <a:srgbClr val="1A1A2E"/>
                </a:solidFill>
              </a:defRPr>
            </a:pPr>
            <a:endParaRPr/>
          </a:p>
          <a:p>
            <a:pPr>
              <a:defRPr>
                <a:solidFill>
                  <a:srgbClr val="1A1A2E"/>
                </a:solidFill>
              </a:defRPr>
            </a:pPr>
            <a:r>
              <a:t>Kindly find the instruction for the assignment as below </a:t>
            </a:r>
          </a:p>
          <a:p>
            <a:pPr marL="180473" indent="-180473">
              <a:buSzPct val="100000"/>
              <a:buChar char="•"/>
              <a:defRPr>
                <a:solidFill>
                  <a:srgbClr val="1A1A2E"/>
                </a:solidFill>
              </a:defRPr>
            </a:pPr>
            <a:r>
              <a:t>Submission date : Friday 15 May 2026 before 5 PM </a:t>
            </a:r>
          </a:p>
          <a:p>
            <a:pPr marL="180473" indent="-180473">
              <a:buSzPct val="100000"/>
              <a:buChar char="•"/>
              <a:defRPr>
                <a:solidFill>
                  <a:srgbClr val="1A1A2E"/>
                </a:solidFill>
              </a:defRPr>
            </a:pPr>
            <a:r>
              <a:t>Format : first update the PPT then copy paste in Google form ( ) </a:t>
            </a:r>
          </a:p>
          <a:p>
            <a:pPr marL="180473" indent="-180473">
              <a:buSzPct val="100000"/>
              <a:buChar char="•"/>
              <a:defRPr>
                <a:solidFill>
                  <a:srgbClr val="1A1A2E"/>
                </a:solidFill>
              </a:defRPr>
            </a:pPr>
            <a:r>
              <a:t>Note : </a:t>
            </a:r>
          </a:p>
          <a:p>
            <a:pPr marL="180473" indent="-180473">
              <a:buSzPct val="100000"/>
              <a:buChar char="•"/>
              <a:defRPr>
                <a:solidFill>
                  <a:srgbClr val="1A1A2E"/>
                </a:solidFill>
              </a:defRPr>
            </a:pPr>
            <a:r>
              <a:t>Instruction : </a:t>
            </a:r>
          </a:p>
          <a:p>
            <a:pPr marL="561473" lvl="1" indent="-180473">
              <a:buSzPct val="100000"/>
              <a:buChar char="•"/>
              <a:defRPr>
                <a:solidFill>
                  <a:srgbClr val="1A1A2E"/>
                </a:solidFill>
              </a:defRPr>
            </a:pPr>
            <a:r>
              <a:t>Slide 2 , 3 and 4 has Instructions. </a:t>
            </a:r>
          </a:p>
          <a:p>
            <a:pPr marL="561473" lvl="1" indent="-180473">
              <a:buSzPct val="100000"/>
              <a:buChar char="•"/>
              <a:defRPr>
                <a:solidFill>
                  <a:srgbClr val="1A1A2E"/>
                </a:solidFill>
              </a:defRPr>
            </a:pPr>
            <a:r>
              <a:t>Prompts for levers are given in the slides in this deck. Please use those </a:t>
            </a:r>
          </a:p>
          <a:p>
            <a:pPr marL="561473" lvl="1" indent="-180473">
              <a:buSzPct val="100000"/>
              <a:buChar char="•"/>
              <a:defRPr>
                <a:solidFill>
                  <a:srgbClr val="1A1A2E"/>
                </a:solidFill>
              </a:defRPr>
            </a:pPr>
            <a:r>
              <a:t>Those Steps,  that are optional  are marked as “Optional”</a:t>
            </a:r>
          </a:p>
        </p:txBody>
      </p:sp>
      <p:sp>
        <p:nvSpPr>
          <p:cNvPr id="24" name="Shape 5"/>
          <p:cNvSpPr/>
          <p:nvPr/>
        </p:nvSpPr>
        <p:spPr>
          <a:xfrm>
            <a:off x="1269942" y="4391235"/>
            <a:ext cx="6400801" cy="12701"/>
          </a:xfrm>
          <a:prstGeom prst="rect">
            <a:avLst/>
          </a:prstGeom>
          <a:solidFill>
            <a:srgbClr val="E5E7EB"/>
          </a:solidFill>
          <a:ln w="3175">
            <a:miter lim="400000"/>
          </a:ln>
        </p:spPr>
        <p:txBody>
          <a:bodyPr lIns="45719" rIns="45719"/>
          <a:lstStyle/>
          <a:p>
            <a:endParaRPr/>
          </a:p>
        </p:txBody>
      </p:sp>
      <p:sp>
        <p:nvSpPr>
          <p:cNvPr id="25" name="Text 18"/>
          <p:cNvSpPr txBox="1"/>
          <p:nvPr/>
        </p:nvSpPr>
        <p:spPr>
          <a:xfrm>
            <a:off x="457200" y="5016500"/>
            <a:ext cx="3657600"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26" name="Text 19"/>
          <p:cNvSpPr txBox="1"/>
          <p:nvPr/>
        </p:nvSpPr>
        <p:spPr>
          <a:xfrm>
            <a:off x="4103978" y="50291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hape 0"/>
          <p:cNvSpPr/>
          <p:nvPr/>
        </p:nvSpPr>
        <p:spPr>
          <a:xfrm>
            <a:off x="0" y="0"/>
            <a:ext cx="9144000" cy="54864"/>
          </a:xfrm>
          <a:prstGeom prst="rect">
            <a:avLst/>
          </a:prstGeom>
          <a:solidFill>
            <a:srgbClr val="D97706"/>
          </a:solidFill>
          <a:ln w="12700">
            <a:miter lim="400000"/>
          </a:ln>
        </p:spPr>
        <p:txBody>
          <a:bodyPr lIns="45719" rIns="45719"/>
          <a:lstStyle/>
          <a:p>
            <a:endParaRPr/>
          </a:p>
        </p:txBody>
      </p:sp>
      <p:sp>
        <p:nvSpPr>
          <p:cNvPr id="29" name="Text 1"/>
          <p:cNvSpPr txBox="1"/>
          <p:nvPr/>
        </p:nvSpPr>
        <p:spPr>
          <a:xfrm>
            <a:off x="777240" y="308523"/>
            <a:ext cx="758952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spc="300">
                <a:solidFill>
                  <a:srgbClr val="D97706"/>
                </a:solidFill>
              </a:defRPr>
            </a:lvl1pPr>
          </a:lstStyle>
          <a:p>
            <a:r>
              <a:t>YOUR TURN</a:t>
            </a:r>
          </a:p>
        </p:txBody>
      </p:sp>
      <p:sp>
        <p:nvSpPr>
          <p:cNvPr id="30" name="Text 2"/>
          <p:cNvSpPr txBox="1"/>
          <p:nvPr/>
        </p:nvSpPr>
        <p:spPr>
          <a:xfrm>
            <a:off x="777240" y="627379"/>
            <a:ext cx="7589520" cy="574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3400" b="1">
                <a:solidFill>
                  <a:srgbClr val="1A1A2E"/>
                </a:solidFill>
                <a:latin typeface="Georgia"/>
                <a:ea typeface="Georgia"/>
                <a:cs typeface="Georgia"/>
                <a:sym typeface="Georgia"/>
              </a:defRPr>
            </a:lvl1pPr>
          </a:lstStyle>
          <a:p>
            <a:r>
              <a:t>Translate Your Problem</a:t>
            </a:r>
          </a:p>
        </p:txBody>
      </p:sp>
      <p:sp>
        <p:nvSpPr>
          <p:cNvPr id="31" name="Text 3"/>
          <p:cNvSpPr txBox="1"/>
          <p:nvPr/>
        </p:nvSpPr>
        <p:spPr>
          <a:xfrm>
            <a:off x="731519" y="1565910"/>
            <a:ext cx="640081" cy="342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D97706"/>
                </a:solidFill>
                <a:latin typeface="Georgia"/>
                <a:ea typeface="Georgia"/>
                <a:cs typeface="Georgia"/>
                <a:sym typeface="Georgia"/>
              </a:defRPr>
            </a:lvl1pPr>
          </a:lstStyle>
          <a:p>
            <a:r>
              <a:t>01</a:t>
            </a:r>
          </a:p>
        </p:txBody>
      </p:sp>
      <p:sp>
        <p:nvSpPr>
          <p:cNvPr id="32" name="Text 4"/>
          <p:cNvSpPr txBox="1"/>
          <p:nvPr/>
        </p:nvSpPr>
        <p:spPr>
          <a:xfrm>
            <a:off x="1554480" y="1642680"/>
            <a:ext cx="6400801"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1A1A2E"/>
                </a:solidFill>
              </a:defRPr>
            </a:lvl1pPr>
          </a:lstStyle>
          <a:p>
            <a:r>
              <a:t>Pull out the problem you wrote at the start of today</a:t>
            </a:r>
          </a:p>
        </p:txBody>
      </p:sp>
      <p:sp>
        <p:nvSpPr>
          <p:cNvPr id="33" name="Shape 5"/>
          <p:cNvSpPr/>
          <p:nvPr/>
        </p:nvSpPr>
        <p:spPr>
          <a:xfrm>
            <a:off x="1554480" y="2037333"/>
            <a:ext cx="6400801" cy="12701"/>
          </a:xfrm>
          <a:prstGeom prst="rect">
            <a:avLst/>
          </a:prstGeom>
          <a:solidFill>
            <a:srgbClr val="E5E7EB"/>
          </a:solidFill>
          <a:ln w="3175">
            <a:miter lim="400000"/>
          </a:ln>
        </p:spPr>
        <p:txBody>
          <a:bodyPr lIns="45719" rIns="45719"/>
          <a:lstStyle/>
          <a:p>
            <a:endParaRPr/>
          </a:p>
        </p:txBody>
      </p:sp>
      <p:sp>
        <p:nvSpPr>
          <p:cNvPr id="34" name="Text 6"/>
          <p:cNvSpPr txBox="1"/>
          <p:nvPr/>
        </p:nvSpPr>
        <p:spPr>
          <a:xfrm>
            <a:off x="731519" y="2205989"/>
            <a:ext cx="640081" cy="342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D97706"/>
                </a:solidFill>
                <a:latin typeface="Georgia"/>
                <a:ea typeface="Georgia"/>
                <a:cs typeface="Georgia"/>
                <a:sym typeface="Georgia"/>
              </a:defRPr>
            </a:lvl1pPr>
          </a:lstStyle>
          <a:p>
            <a:r>
              <a:t>02</a:t>
            </a:r>
          </a:p>
        </p:txBody>
      </p:sp>
      <p:sp>
        <p:nvSpPr>
          <p:cNvPr id="35" name="Text 7"/>
          <p:cNvSpPr txBox="1"/>
          <p:nvPr/>
        </p:nvSpPr>
        <p:spPr>
          <a:xfrm>
            <a:off x="1554480" y="2282760"/>
            <a:ext cx="6400801"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1A1A2E"/>
                </a:solidFill>
              </a:defRPr>
            </a:lvl1pPr>
          </a:lstStyle>
          <a:p>
            <a:r>
              <a:t>Select at least 3 of the 7 Translation Levers</a:t>
            </a:r>
          </a:p>
        </p:txBody>
      </p:sp>
      <p:sp>
        <p:nvSpPr>
          <p:cNvPr id="36" name="Shape 8"/>
          <p:cNvSpPr/>
          <p:nvPr/>
        </p:nvSpPr>
        <p:spPr>
          <a:xfrm>
            <a:off x="1554480" y="2677414"/>
            <a:ext cx="6400801" cy="12701"/>
          </a:xfrm>
          <a:prstGeom prst="rect">
            <a:avLst/>
          </a:prstGeom>
          <a:solidFill>
            <a:srgbClr val="E5E7EB"/>
          </a:solidFill>
          <a:ln w="3175">
            <a:miter lim="400000"/>
          </a:ln>
        </p:spPr>
        <p:txBody>
          <a:bodyPr lIns="45719" rIns="45719"/>
          <a:lstStyle/>
          <a:p>
            <a:endParaRPr/>
          </a:p>
        </p:txBody>
      </p:sp>
      <p:sp>
        <p:nvSpPr>
          <p:cNvPr id="37" name="Text 9"/>
          <p:cNvSpPr txBox="1"/>
          <p:nvPr/>
        </p:nvSpPr>
        <p:spPr>
          <a:xfrm>
            <a:off x="731519" y="2846070"/>
            <a:ext cx="640081" cy="342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D97706"/>
                </a:solidFill>
                <a:latin typeface="Georgia"/>
                <a:ea typeface="Georgia"/>
                <a:cs typeface="Georgia"/>
                <a:sym typeface="Georgia"/>
              </a:defRPr>
            </a:lvl1pPr>
          </a:lstStyle>
          <a:p>
            <a:r>
              <a:t>03</a:t>
            </a:r>
          </a:p>
        </p:txBody>
      </p:sp>
      <p:sp>
        <p:nvSpPr>
          <p:cNvPr id="38" name="Text 10"/>
          <p:cNvSpPr txBox="1"/>
          <p:nvPr/>
        </p:nvSpPr>
        <p:spPr>
          <a:xfrm>
            <a:off x="1554480" y="2922840"/>
            <a:ext cx="6400801"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1A1A2E"/>
                </a:solidFill>
              </a:defRPr>
            </a:lvl1pPr>
          </a:lstStyle>
          <a:p>
            <a:r>
              <a:t>Apply each lever using the Translation Prompts</a:t>
            </a:r>
          </a:p>
        </p:txBody>
      </p:sp>
      <p:sp>
        <p:nvSpPr>
          <p:cNvPr id="39" name="Shape 11"/>
          <p:cNvSpPr/>
          <p:nvPr/>
        </p:nvSpPr>
        <p:spPr>
          <a:xfrm>
            <a:off x="1554480" y="3317493"/>
            <a:ext cx="6400801" cy="12701"/>
          </a:xfrm>
          <a:prstGeom prst="rect">
            <a:avLst/>
          </a:prstGeom>
          <a:solidFill>
            <a:srgbClr val="E5E7EB"/>
          </a:solidFill>
          <a:ln w="3175">
            <a:miter lim="400000"/>
          </a:ln>
        </p:spPr>
        <p:txBody>
          <a:bodyPr lIns="45719" rIns="45719"/>
          <a:lstStyle/>
          <a:p>
            <a:endParaRPr/>
          </a:p>
        </p:txBody>
      </p:sp>
      <p:sp>
        <p:nvSpPr>
          <p:cNvPr id="40" name="Text 12"/>
          <p:cNvSpPr txBox="1"/>
          <p:nvPr/>
        </p:nvSpPr>
        <p:spPr>
          <a:xfrm>
            <a:off x="731519" y="3486150"/>
            <a:ext cx="640081" cy="342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D97706"/>
                </a:solidFill>
                <a:latin typeface="Georgia"/>
                <a:ea typeface="Georgia"/>
                <a:cs typeface="Georgia"/>
                <a:sym typeface="Georgia"/>
              </a:defRPr>
            </a:lvl1pPr>
          </a:lstStyle>
          <a:p>
            <a:r>
              <a:t>04</a:t>
            </a:r>
          </a:p>
        </p:txBody>
      </p:sp>
      <p:sp>
        <p:nvSpPr>
          <p:cNvPr id="41" name="Text 13"/>
          <p:cNvSpPr txBox="1"/>
          <p:nvPr/>
        </p:nvSpPr>
        <p:spPr>
          <a:xfrm>
            <a:off x="1554480" y="3562920"/>
            <a:ext cx="6400801"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1A1A2E"/>
                </a:solidFill>
              </a:defRPr>
            </a:lvl1pPr>
          </a:lstStyle>
          <a:p>
            <a:r>
              <a:t>Rewrite your problem in the language of New Economics</a:t>
            </a:r>
          </a:p>
        </p:txBody>
      </p:sp>
      <p:sp>
        <p:nvSpPr>
          <p:cNvPr id="42" name="Shape 14"/>
          <p:cNvSpPr/>
          <p:nvPr/>
        </p:nvSpPr>
        <p:spPr>
          <a:xfrm>
            <a:off x="1554480" y="3957573"/>
            <a:ext cx="6400801" cy="12701"/>
          </a:xfrm>
          <a:prstGeom prst="rect">
            <a:avLst/>
          </a:prstGeom>
          <a:solidFill>
            <a:srgbClr val="E5E7EB"/>
          </a:solidFill>
          <a:ln w="3175">
            <a:miter lim="400000"/>
          </a:ln>
        </p:spPr>
        <p:txBody>
          <a:bodyPr lIns="45719" rIns="45719"/>
          <a:lstStyle/>
          <a:p>
            <a:endParaRPr/>
          </a:p>
        </p:txBody>
      </p:sp>
      <p:sp>
        <p:nvSpPr>
          <p:cNvPr id="43" name="Text 15"/>
          <p:cNvSpPr txBox="1"/>
          <p:nvPr/>
        </p:nvSpPr>
        <p:spPr>
          <a:xfrm>
            <a:off x="731519" y="4126229"/>
            <a:ext cx="640081" cy="342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D97706"/>
                </a:solidFill>
                <a:latin typeface="Georgia"/>
                <a:ea typeface="Georgia"/>
                <a:cs typeface="Georgia"/>
                <a:sym typeface="Georgia"/>
              </a:defRPr>
            </a:lvl1pPr>
          </a:lstStyle>
          <a:p>
            <a:r>
              <a:t>05</a:t>
            </a:r>
          </a:p>
        </p:txBody>
      </p:sp>
      <p:sp>
        <p:nvSpPr>
          <p:cNvPr id="44" name="Text 16"/>
          <p:cNvSpPr txBox="1"/>
          <p:nvPr/>
        </p:nvSpPr>
        <p:spPr>
          <a:xfrm>
            <a:off x="1554480" y="4088700"/>
            <a:ext cx="6400801" cy="417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1A1A2E"/>
                </a:solidFill>
              </a:defRPr>
            </a:lvl1pPr>
          </a:lstStyle>
          <a:p>
            <a:r>
              <a:t>Identify: what is YOUR economic equation now? - Economy = (Data × Algorithms) ^ Network Effects = New economics.</a:t>
            </a:r>
          </a:p>
        </p:txBody>
      </p:sp>
      <p:sp>
        <p:nvSpPr>
          <p:cNvPr id="45" name="Text 18"/>
          <p:cNvSpPr txBox="1"/>
          <p:nvPr/>
        </p:nvSpPr>
        <p:spPr>
          <a:xfrm>
            <a:off x="457200" y="4927600"/>
            <a:ext cx="3657600"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46"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Shape 0"/>
          <p:cNvSpPr/>
          <p:nvPr/>
        </p:nvSpPr>
        <p:spPr>
          <a:xfrm>
            <a:off x="0" y="0"/>
            <a:ext cx="9144000" cy="54864"/>
          </a:xfrm>
          <a:prstGeom prst="rect">
            <a:avLst/>
          </a:prstGeom>
          <a:solidFill>
            <a:srgbClr val="D97706"/>
          </a:solidFill>
          <a:ln w="12700">
            <a:miter lim="400000"/>
          </a:ln>
        </p:spPr>
        <p:txBody>
          <a:bodyPr lIns="45719" rIns="45719"/>
          <a:lstStyle/>
          <a:p>
            <a:endParaRPr/>
          </a:p>
        </p:txBody>
      </p:sp>
      <p:sp>
        <p:nvSpPr>
          <p:cNvPr id="49" name="Text 1"/>
          <p:cNvSpPr txBox="1"/>
          <p:nvPr/>
        </p:nvSpPr>
        <p:spPr>
          <a:xfrm>
            <a:off x="777240" y="308523"/>
            <a:ext cx="758952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spc="300">
                <a:solidFill>
                  <a:srgbClr val="D97706"/>
                </a:solidFill>
              </a:defRPr>
            </a:lvl1pPr>
          </a:lstStyle>
          <a:p>
            <a:r>
              <a:t>YOUR TURN</a:t>
            </a:r>
          </a:p>
        </p:txBody>
      </p:sp>
      <p:sp>
        <p:nvSpPr>
          <p:cNvPr id="50" name="Text 2"/>
          <p:cNvSpPr txBox="1"/>
          <p:nvPr/>
        </p:nvSpPr>
        <p:spPr>
          <a:xfrm>
            <a:off x="777240" y="627379"/>
            <a:ext cx="7589520" cy="574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3400" b="1">
                <a:solidFill>
                  <a:srgbClr val="1A1A2E"/>
                </a:solidFill>
                <a:latin typeface="Georgia"/>
                <a:ea typeface="Georgia"/>
                <a:cs typeface="Georgia"/>
                <a:sym typeface="Georgia"/>
              </a:defRPr>
            </a:lvl1pPr>
          </a:lstStyle>
          <a:p>
            <a:r>
              <a:t>Translate Your Problem</a:t>
            </a:r>
          </a:p>
        </p:txBody>
      </p:sp>
      <p:sp>
        <p:nvSpPr>
          <p:cNvPr id="51" name="Text 3"/>
          <p:cNvSpPr txBox="1"/>
          <p:nvPr/>
        </p:nvSpPr>
        <p:spPr>
          <a:xfrm>
            <a:off x="731519" y="1565910"/>
            <a:ext cx="640081" cy="342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D97706"/>
                </a:solidFill>
                <a:latin typeface="Georgia"/>
                <a:ea typeface="Georgia"/>
                <a:cs typeface="Georgia"/>
                <a:sym typeface="Georgia"/>
              </a:defRPr>
            </a:lvl1pPr>
          </a:lstStyle>
          <a:p>
            <a:r>
              <a:t>06</a:t>
            </a:r>
          </a:p>
        </p:txBody>
      </p:sp>
      <p:sp>
        <p:nvSpPr>
          <p:cNvPr id="52" name="Text 4"/>
          <p:cNvSpPr txBox="1"/>
          <p:nvPr/>
        </p:nvSpPr>
        <p:spPr>
          <a:xfrm>
            <a:off x="1554480" y="1642680"/>
            <a:ext cx="6400801"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1A1A2E"/>
                </a:solidFill>
              </a:defRPr>
            </a:lvl1pPr>
          </a:lstStyle>
          <a:p>
            <a:r>
              <a:t>Apply FP and JTDB to refined version - slide 73 onwards </a:t>
            </a:r>
          </a:p>
        </p:txBody>
      </p:sp>
      <p:sp>
        <p:nvSpPr>
          <p:cNvPr id="53" name="Shape 5"/>
          <p:cNvSpPr/>
          <p:nvPr/>
        </p:nvSpPr>
        <p:spPr>
          <a:xfrm>
            <a:off x="1554480" y="2037333"/>
            <a:ext cx="6400801" cy="12701"/>
          </a:xfrm>
          <a:prstGeom prst="rect">
            <a:avLst/>
          </a:prstGeom>
          <a:solidFill>
            <a:srgbClr val="E5E7EB"/>
          </a:solidFill>
          <a:ln w="3175">
            <a:miter lim="400000"/>
          </a:ln>
        </p:spPr>
        <p:txBody>
          <a:bodyPr lIns="45719" rIns="45719"/>
          <a:lstStyle/>
          <a:p>
            <a:endParaRPr/>
          </a:p>
        </p:txBody>
      </p:sp>
      <p:sp>
        <p:nvSpPr>
          <p:cNvPr id="54" name="Text 6"/>
          <p:cNvSpPr txBox="1"/>
          <p:nvPr/>
        </p:nvSpPr>
        <p:spPr>
          <a:xfrm>
            <a:off x="731519" y="2205989"/>
            <a:ext cx="640081" cy="342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400" b="1">
                <a:solidFill>
                  <a:srgbClr val="D97706"/>
                </a:solidFill>
                <a:latin typeface="Georgia"/>
                <a:ea typeface="Georgia"/>
                <a:cs typeface="Georgia"/>
                <a:sym typeface="Georgia"/>
              </a:defRPr>
            </a:lvl1pPr>
          </a:lstStyle>
          <a:p>
            <a:r>
              <a:t>07</a:t>
            </a:r>
          </a:p>
        </p:txBody>
      </p:sp>
      <p:sp>
        <p:nvSpPr>
          <p:cNvPr id="55" name="Text 7"/>
          <p:cNvSpPr txBox="1"/>
          <p:nvPr/>
        </p:nvSpPr>
        <p:spPr>
          <a:xfrm>
            <a:off x="1554480" y="2282760"/>
            <a:ext cx="6400801"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1A1A2E"/>
                </a:solidFill>
              </a:defRPr>
            </a:lvl1pPr>
          </a:lstStyle>
          <a:p>
            <a:r>
              <a:t>Frame it in a way that it is an extra ordinary problem </a:t>
            </a:r>
          </a:p>
        </p:txBody>
      </p:sp>
      <p:sp>
        <p:nvSpPr>
          <p:cNvPr id="56" name="Shape 8"/>
          <p:cNvSpPr/>
          <p:nvPr/>
        </p:nvSpPr>
        <p:spPr>
          <a:xfrm>
            <a:off x="1554480" y="2677414"/>
            <a:ext cx="6400801" cy="12701"/>
          </a:xfrm>
          <a:prstGeom prst="rect">
            <a:avLst/>
          </a:prstGeom>
          <a:solidFill>
            <a:srgbClr val="E5E7EB"/>
          </a:solidFill>
          <a:ln w="3175">
            <a:miter lim="400000"/>
          </a:ln>
        </p:spPr>
        <p:txBody>
          <a:bodyPr lIns="45719" rIns="45719"/>
          <a:lstStyle/>
          <a:p>
            <a:endParaRPr/>
          </a:p>
        </p:txBody>
      </p:sp>
      <p:sp>
        <p:nvSpPr>
          <p:cNvPr id="57" name="Shape 17"/>
          <p:cNvSpPr/>
          <p:nvPr/>
        </p:nvSpPr>
        <p:spPr>
          <a:xfrm>
            <a:off x="2471596" y="2885947"/>
            <a:ext cx="3657601" cy="457201"/>
          </a:xfrm>
          <a:prstGeom prst="rect">
            <a:avLst/>
          </a:prstGeom>
          <a:solidFill>
            <a:srgbClr val="D97706"/>
          </a:solidFill>
          <a:ln w="12700">
            <a:miter lim="400000"/>
          </a:ln>
        </p:spPr>
        <p:txBody>
          <a:bodyPr lIns="45719" rIns="45719"/>
          <a:lstStyle/>
          <a:p>
            <a:endParaRPr/>
          </a:p>
        </p:txBody>
      </p:sp>
      <p:sp>
        <p:nvSpPr>
          <p:cNvPr id="58"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59"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0"/>
          <p:cNvSpPr/>
          <p:nvPr/>
        </p:nvSpPr>
        <p:spPr>
          <a:xfrm>
            <a:off x="0" y="-1"/>
            <a:ext cx="9144000" cy="45722"/>
          </a:xfrm>
          <a:prstGeom prst="rect">
            <a:avLst/>
          </a:prstGeom>
          <a:solidFill>
            <a:srgbClr val="6B7280"/>
          </a:solidFill>
          <a:ln w="12700">
            <a:miter lim="400000"/>
          </a:ln>
        </p:spPr>
        <p:txBody>
          <a:bodyPr lIns="45719" rIns="45719"/>
          <a:lstStyle/>
          <a:p>
            <a:endParaRPr/>
          </a:p>
        </p:txBody>
      </p:sp>
      <p:sp>
        <p:nvSpPr>
          <p:cNvPr id="62" name="Text 1"/>
          <p:cNvSpPr txBox="1"/>
          <p:nvPr/>
        </p:nvSpPr>
        <p:spPr>
          <a:xfrm>
            <a:off x="502919" y="182879"/>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6B7280"/>
                </a:solidFill>
              </a:defRPr>
            </a:lvl1pPr>
          </a:lstStyle>
          <a:p>
            <a:r>
              <a:t>STEP 1</a:t>
            </a:r>
          </a:p>
        </p:txBody>
      </p:sp>
      <p:sp>
        <p:nvSpPr>
          <p:cNvPr id="63"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t>Pull Out Your Original Problem</a:t>
            </a:r>
          </a:p>
        </p:txBody>
      </p:sp>
      <p:sp>
        <p:nvSpPr>
          <p:cNvPr id="64" name="Shape 3"/>
          <p:cNvSpPr/>
          <p:nvPr/>
        </p:nvSpPr>
        <p:spPr>
          <a:xfrm>
            <a:off x="365759" y="1005839"/>
            <a:ext cx="8655893" cy="1245316"/>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65" name="Shape 4"/>
          <p:cNvSpPr/>
          <p:nvPr/>
        </p:nvSpPr>
        <p:spPr>
          <a:xfrm>
            <a:off x="365759" y="1005839"/>
            <a:ext cx="51936" cy="1245316"/>
          </a:xfrm>
          <a:prstGeom prst="rect">
            <a:avLst/>
          </a:prstGeom>
          <a:solidFill>
            <a:srgbClr val="6B7280"/>
          </a:solidFill>
          <a:ln w="12700">
            <a:miter lim="400000"/>
          </a:ln>
        </p:spPr>
        <p:txBody>
          <a:bodyPr lIns="45719" rIns="45719"/>
          <a:lstStyle/>
          <a:p>
            <a:endParaRPr/>
          </a:p>
        </p:txBody>
      </p:sp>
      <p:sp>
        <p:nvSpPr>
          <p:cNvPr id="66" name="Text 5"/>
          <p:cNvSpPr txBox="1"/>
          <p:nvPr/>
        </p:nvSpPr>
        <p:spPr>
          <a:xfrm>
            <a:off x="640079" y="1074464"/>
            <a:ext cx="448056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6B7280"/>
                </a:solidFill>
              </a:defRPr>
            </a:lvl1pPr>
          </a:lstStyle>
          <a:p>
            <a:r>
              <a:t>WHAT TO DO</a:t>
            </a:r>
          </a:p>
        </p:txBody>
      </p:sp>
      <p:sp>
        <p:nvSpPr>
          <p:cNvPr id="67" name="Text 6"/>
          <p:cNvSpPr txBox="1"/>
          <p:nvPr/>
        </p:nvSpPr>
        <p:spPr>
          <a:xfrm>
            <a:off x="640079" y="1371600"/>
            <a:ext cx="4480561" cy="7529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20000"/>
              </a:lnSpc>
              <a:defRPr sz="1200" b="1">
                <a:solidFill>
                  <a:srgbClr val="1A1A2E"/>
                </a:solidFill>
              </a:defRPr>
            </a:pPr>
            <a:r>
              <a:t>Go back to Saturday's session (Feb 14).</a:t>
            </a:r>
          </a:p>
          <a:p>
            <a:pPr>
              <a:lnSpc>
                <a:spcPct val="120000"/>
              </a:lnSpc>
              <a:defRPr sz="900" b="1">
                <a:solidFill>
                  <a:srgbClr val="1A1A2E"/>
                </a:solidFill>
              </a:defRPr>
            </a:pPr>
            <a:endParaRPr/>
          </a:p>
          <a:p>
            <a:pPr>
              <a:lnSpc>
                <a:spcPct val="120000"/>
              </a:lnSpc>
              <a:defRPr sz="900" b="1">
                <a:solidFill>
                  <a:srgbClr val="1A1A2E"/>
                </a:solidFill>
              </a:defRPr>
            </a:pPr>
            <a:r>
              <a:rPr b="0">
                <a:solidFill>
                  <a:srgbClr val="3D3D5C"/>
                </a:solidFill>
              </a:rPr>
              <a:t>Find the problem you wrote at the START of the session  OR the problem that you wish to take — before any frameworks, before any levers.</a:t>
            </a:r>
          </a:p>
        </p:txBody>
      </p:sp>
      <p:sp>
        <p:nvSpPr>
          <p:cNvPr id="68" name="Shape 11"/>
          <p:cNvSpPr/>
          <p:nvPr/>
        </p:nvSpPr>
        <p:spPr>
          <a:xfrm>
            <a:off x="355049" y="2367994"/>
            <a:ext cx="8306790" cy="2473185"/>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dirty="0"/>
          </a:p>
        </p:txBody>
      </p:sp>
      <p:sp>
        <p:nvSpPr>
          <p:cNvPr id="69" name="Text 12"/>
          <p:cNvSpPr txBox="1"/>
          <p:nvPr/>
        </p:nvSpPr>
        <p:spPr>
          <a:xfrm>
            <a:off x="477958" y="2425057"/>
            <a:ext cx="82296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b="1" spc="200">
                <a:solidFill>
                  <a:srgbClr val="6B7280"/>
                </a:solidFill>
              </a:defRPr>
            </a:lvl1pPr>
          </a:lstStyle>
          <a:p>
            <a:r>
              <a:t>Problem </a:t>
            </a:r>
          </a:p>
        </p:txBody>
      </p:sp>
      <p:sp>
        <p:nvSpPr>
          <p:cNvPr id="70" name="Text 13"/>
          <p:cNvSpPr txBox="1"/>
          <p:nvPr/>
        </p:nvSpPr>
        <p:spPr>
          <a:xfrm>
            <a:off x="477958" y="2688033"/>
            <a:ext cx="7955280" cy="37893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fontAlgn="base"/>
            <a:r>
              <a:rPr b="1" dirty="0"/>
              <a:t>Original problem:</a:t>
            </a:r>
            <a:r>
              <a:rPr lang="en-IN" b="1" dirty="0"/>
              <a:t> </a:t>
            </a:r>
            <a:r>
              <a:rPr lang="en-IN" dirty="0"/>
              <a:t>Topic : AI Project Management Orchestration Engine</a:t>
            </a:r>
            <a:br>
              <a:rPr lang="en-IN" dirty="0"/>
            </a:br>
            <a:br>
              <a:rPr lang="en-IN" dirty="0"/>
            </a:br>
            <a:r>
              <a:rPr lang="en-IN" dirty="0"/>
              <a:t>Without a </a:t>
            </a:r>
            <a:r>
              <a:rPr lang="en-US" dirty="0"/>
              <a:t>Centralized tool that manage talents , project life cycle , design , architecture expectations around project delivery , the project management and stakeholders expectations , project members expectation gets into mismatch and affects the project timeline , budget and much more .How do we make sure this process is centralized and automated , synced across levels?</a:t>
            </a:r>
            <a:endParaRPr dirty="0"/>
          </a:p>
          <a:p>
            <a:pPr>
              <a:lnSpc>
                <a:spcPct val="120000"/>
              </a:lnSpc>
              <a:defRPr sz="1200" b="1">
                <a:solidFill>
                  <a:srgbClr val="1A1A2E"/>
                </a:solidFill>
              </a:defRPr>
            </a:pPr>
            <a:endParaRPr dirty="0"/>
          </a:p>
          <a:p>
            <a:pPr>
              <a:lnSpc>
                <a:spcPct val="120000"/>
              </a:lnSpc>
              <a:defRPr sz="1200" b="1">
                <a:solidFill>
                  <a:srgbClr val="1A1A2E"/>
                </a:solidFill>
              </a:defRPr>
            </a:pPr>
            <a:endParaRPr dirty="0"/>
          </a:p>
          <a:p>
            <a:pPr>
              <a:lnSpc>
                <a:spcPct val="120000"/>
              </a:lnSpc>
              <a:defRPr sz="1200" b="1">
                <a:solidFill>
                  <a:srgbClr val="1A1A2E"/>
                </a:solidFill>
              </a:defRPr>
            </a:pPr>
            <a:endParaRPr dirty="0"/>
          </a:p>
          <a:p>
            <a:pPr>
              <a:lnSpc>
                <a:spcPct val="120000"/>
              </a:lnSpc>
              <a:defRPr sz="1200" b="1">
                <a:solidFill>
                  <a:srgbClr val="1A1A2E"/>
                </a:solidFill>
              </a:defRPr>
            </a:pPr>
            <a:endParaRPr dirty="0"/>
          </a:p>
          <a:p>
            <a:pPr>
              <a:lnSpc>
                <a:spcPct val="120000"/>
              </a:lnSpc>
              <a:defRPr sz="1200" b="1">
                <a:solidFill>
                  <a:srgbClr val="1A1A2E"/>
                </a:solidFill>
              </a:defRPr>
            </a:pPr>
            <a:endParaRPr dirty="0"/>
          </a:p>
          <a:p>
            <a:pPr>
              <a:lnSpc>
                <a:spcPct val="120000"/>
              </a:lnSpc>
              <a:defRPr sz="1200" b="1">
                <a:solidFill>
                  <a:srgbClr val="1A1A2E"/>
                </a:solidFill>
              </a:defRPr>
            </a:pPr>
            <a:endParaRPr dirty="0"/>
          </a:p>
          <a:p>
            <a:pPr>
              <a:lnSpc>
                <a:spcPct val="120000"/>
              </a:lnSpc>
              <a:defRPr sz="1200" b="1">
                <a:solidFill>
                  <a:srgbClr val="1A1A2E"/>
                </a:solidFill>
              </a:defRPr>
            </a:pPr>
            <a:endParaRPr dirty="0"/>
          </a:p>
          <a:p>
            <a:pPr>
              <a:lnSpc>
                <a:spcPct val="120000"/>
              </a:lnSpc>
              <a:defRPr sz="1200" b="1">
                <a:solidFill>
                  <a:srgbClr val="1A1A2E"/>
                </a:solidFill>
              </a:defRPr>
            </a:pPr>
            <a:endParaRPr dirty="0"/>
          </a:p>
        </p:txBody>
      </p:sp>
      <p:sp>
        <p:nvSpPr>
          <p:cNvPr id="71"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72"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hape 0"/>
          <p:cNvSpPr/>
          <p:nvPr/>
        </p:nvSpPr>
        <p:spPr>
          <a:xfrm>
            <a:off x="0" y="-1"/>
            <a:ext cx="9144000" cy="45722"/>
          </a:xfrm>
          <a:prstGeom prst="rect">
            <a:avLst/>
          </a:prstGeom>
          <a:solidFill>
            <a:srgbClr val="EA580C"/>
          </a:solidFill>
          <a:ln w="12700">
            <a:miter lim="400000"/>
          </a:ln>
        </p:spPr>
        <p:txBody>
          <a:bodyPr lIns="45719" rIns="45719"/>
          <a:lstStyle/>
          <a:p>
            <a:endParaRPr/>
          </a:p>
        </p:txBody>
      </p:sp>
      <p:sp>
        <p:nvSpPr>
          <p:cNvPr id="75" name="Text 1"/>
          <p:cNvSpPr txBox="1"/>
          <p:nvPr/>
        </p:nvSpPr>
        <p:spPr>
          <a:xfrm>
            <a:off x="502919" y="182924"/>
            <a:ext cx="1465747"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EA580C"/>
                </a:solidFill>
              </a:defRPr>
            </a:lvl1pPr>
          </a:lstStyle>
          <a:p>
            <a:r>
              <a:t>STEP 2 &amp;  3 </a:t>
            </a:r>
          </a:p>
        </p:txBody>
      </p:sp>
      <p:sp>
        <p:nvSpPr>
          <p:cNvPr id="76"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t>Apply first 3 ( Data , Network &amp; Algorithm) </a:t>
            </a:r>
          </a:p>
        </p:txBody>
      </p:sp>
      <p:sp>
        <p:nvSpPr>
          <p:cNvPr id="77" name="Shape 3"/>
          <p:cNvSpPr/>
          <p:nvPr/>
        </p:nvSpPr>
        <p:spPr>
          <a:xfrm>
            <a:off x="365759" y="960119"/>
            <a:ext cx="4114801" cy="50292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78" name="Shape 4"/>
          <p:cNvSpPr/>
          <p:nvPr/>
        </p:nvSpPr>
        <p:spPr>
          <a:xfrm>
            <a:off x="365759" y="960119"/>
            <a:ext cx="36577" cy="502920"/>
          </a:xfrm>
          <a:prstGeom prst="rect">
            <a:avLst/>
          </a:prstGeom>
          <a:solidFill>
            <a:srgbClr val="2563EB"/>
          </a:solidFill>
          <a:ln w="12700">
            <a:miter lim="400000"/>
          </a:ln>
        </p:spPr>
        <p:txBody>
          <a:bodyPr lIns="45719" rIns="45719"/>
          <a:lstStyle/>
          <a:p>
            <a:endParaRPr/>
          </a:p>
        </p:txBody>
      </p:sp>
      <p:sp>
        <p:nvSpPr>
          <p:cNvPr id="79" name="Shape 5"/>
          <p:cNvSpPr/>
          <p:nvPr/>
        </p:nvSpPr>
        <p:spPr>
          <a:xfrm>
            <a:off x="475487" y="1051560"/>
            <a:ext cx="320041" cy="320041"/>
          </a:xfrm>
          <a:prstGeom prst="ellipse">
            <a:avLst/>
          </a:prstGeom>
          <a:solidFill>
            <a:srgbClr val="2563EB"/>
          </a:solidFill>
          <a:ln w="12700">
            <a:miter lim="400000"/>
          </a:ln>
        </p:spPr>
        <p:txBody>
          <a:bodyPr lIns="45719" rIns="45719"/>
          <a:lstStyle/>
          <a:p>
            <a:endParaRPr/>
          </a:p>
        </p:txBody>
      </p:sp>
      <p:sp>
        <p:nvSpPr>
          <p:cNvPr id="80" name="Text 6"/>
          <p:cNvSpPr txBox="1"/>
          <p:nvPr/>
        </p:nvSpPr>
        <p:spPr>
          <a:xfrm>
            <a:off x="521207" y="1076960"/>
            <a:ext cx="22860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b="1">
                <a:solidFill>
                  <a:srgbClr val="FFFFFF"/>
                </a:solidFill>
                <a:latin typeface="Georgia"/>
                <a:ea typeface="Georgia"/>
                <a:cs typeface="Georgia"/>
                <a:sym typeface="Georgia"/>
              </a:defRPr>
            </a:lvl1pPr>
          </a:lstStyle>
          <a:p>
            <a:r>
              <a:t>1</a:t>
            </a:r>
          </a:p>
        </p:txBody>
      </p:sp>
      <p:sp>
        <p:nvSpPr>
          <p:cNvPr id="81" name="Text 7"/>
          <p:cNvSpPr txBox="1"/>
          <p:nvPr/>
        </p:nvSpPr>
        <p:spPr>
          <a:xfrm>
            <a:off x="914400" y="993570"/>
            <a:ext cx="338328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A1A2E"/>
                </a:solidFill>
              </a:defRPr>
            </a:lvl1pPr>
          </a:lstStyle>
          <a:p>
            <a:r>
              <a:t>Data Liquidity</a:t>
            </a:r>
          </a:p>
        </p:txBody>
      </p:sp>
      <p:sp>
        <p:nvSpPr>
          <p:cNvPr id="82" name="Text 8"/>
          <p:cNvSpPr txBox="1"/>
          <p:nvPr/>
        </p:nvSpPr>
        <p:spPr>
          <a:xfrm>
            <a:off x="914400" y="1204635"/>
            <a:ext cx="338328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2563EB"/>
                </a:solidFill>
              </a:defRPr>
            </a:lvl1pPr>
          </a:lstStyle>
          <a:p>
            <a:r>
              <a:t>What dormant data exists? What new data ? </a:t>
            </a:r>
          </a:p>
        </p:txBody>
      </p:sp>
      <p:sp>
        <p:nvSpPr>
          <p:cNvPr id="83" name="Shape 9"/>
          <p:cNvSpPr/>
          <p:nvPr/>
        </p:nvSpPr>
        <p:spPr>
          <a:xfrm>
            <a:off x="365759" y="1554480"/>
            <a:ext cx="4114801" cy="50292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84" name="Shape 10"/>
          <p:cNvSpPr/>
          <p:nvPr/>
        </p:nvSpPr>
        <p:spPr>
          <a:xfrm>
            <a:off x="365759" y="1554480"/>
            <a:ext cx="36577" cy="502920"/>
          </a:xfrm>
          <a:prstGeom prst="rect">
            <a:avLst/>
          </a:prstGeom>
          <a:solidFill>
            <a:srgbClr val="059669"/>
          </a:solidFill>
          <a:ln w="12700">
            <a:miter lim="400000"/>
          </a:ln>
        </p:spPr>
        <p:txBody>
          <a:bodyPr lIns="45719" rIns="45719"/>
          <a:lstStyle/>
          <a:p>
            <a:endParaRPr/>
          </a:p>
        </p:txBody>
      </p:sp>
      <p:sp>
        <p:nvSpPr>
          <p:cNvPr id="85" name="Shape 11"/>
          <p:cNvSpPr/>
          <p:nvPr/>
        </p:nvSpPr>
        <p:spPr>
          <a:xfrm>
            <a:off x="475487" y="1645920"/>
            <a:ext cx="320041" cy="320041"/>
          </a:xfrm>
          <a:prstGeom prst="ellipse">
            <a:avLst/>
          </a:prstGeom>
          <a:solidFill>
            <a:srgbClr val="059669"/>
          </a:solidFill>
          <a:ln w="12700">
            <a:miter lim="400000"/>
          </a:ln>
        </p:spPr>
        <p:txBody>
          <a:bodyPr lIns="45719" rIns="45719"/>
          <a:lstStyle/>
          <a:p>
            <a:endParaRPr/>
          </a:p>
        </p:txBody>
      </p:sp>
      <p:sp>
        <p:nvSpPr>
          <p:cNvPr id="86" name="Text 12"/>
          <p:cNvSpPr txBox="1"/>
          <p:nvPr/>
        </p:nvSpPr>
        <p:spPr>
          <a:xfrm>
            <a:off x="521207" y="1671320"/>
            <a:ext cx="22860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b="1">
                <a:solidFill>
                  <a:srgbClr val="FFFFFF"/>
                </a:solidFill>
                <a:latin typeface="Georgia"/>
                <a:ea typeface="Georgia"/>
                <a:cs typeface="Georgia"/>
                <a:sym typeface="Georgia"/>
              </a:defRPr>
            </a:lvl1pPr>
          </a:lstStyle>
          <a:p>
            <a:r>
              <a:t>2</a:t>
            </a:r>
          </a:p>
        </p:txBody>
      </p:sp>
      <p:sp>
        <p:nvSpPr>
          <p:cNvPr id="87" name="Text 13"/>
          <p:cNvSpPr txBox="1"/>
          <p:nvPr/>
        </p:nvSpPr>
        <p:spPr>
          <a:xfrm>
            <a:off x="914400" y="1587930"/>
            <a:ext cx="338328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A1A2E"/>
                </a:solidFill>
              </a:defRPr>
            </a:lvl1pPr>
          </a:lstStyle>
          <a:p>
            <a:r>
              <a:t>Network Effects</a:t>
            </a:r>
          </a:p>
        </p:txBody>
      </p:sp>
      <p:sp>
        <p:nvSpPr>
          <p:cNvPr id="88" name="Text 14"/>
          <p:cNvSpPr txBox="1"/>
          <p:nvPr/>
        </p:nvSpPr>
        <p:spPr>
          <a:xfrm>
            <a:off x="914400" y="1798995"/>
            <a:ext cx="338328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059669"/>
                </a:solidFill>
              </a:defRPr>
            </a:lvl1pPr>
          </a:lstStyle>
          <a:p>
            <a:r>
              <a:t>Does each user make it better for all?</a:t>
            </a:r>
          </a:p>
        </p:txBody>
      </p:sp>
      <p:sp>
        <p:nvSpPr>
          <p:cNvPr id="89" name="Shape 15"/>
          <p:cNvSpPr/>
          <p:nvPr/>
        </p:nvSpPr>
        <p:spPr>
          <a:xfrm>
            <a:off x="365759" y="2148839"/>
            <a:ext cx="4114801" cy="50292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90" name="Shape 16"/>
          <p:cNvSpPr/>
          <p:nvPr/>
        </p:nvSpPr>
        <p:spPr>
          <a:xfrm>
            <a:off x="365759" y="2148839"/>
            <a:ext cx="36577" cy="502920"/>
          </a:xfrm>
          <a:prstGeom prst="rect">
            <a:avLst/>
          </a:prstGeom>
          <a:solidFill>
            <a:srgbClr val="7C3AED"/>
          </a:solidFill>
          <a:ln w="12700">
            <a:miter lim="400000"/>
          </a:ln>
        </p:spPr>
        <p:txBody>
          <a:bodyPr lIns="45719" rIns="45719"/>
          <a:lstStyle/>
          <a:p>
            <a:endParaRPr/>
          </a:p>
        </p:txBody>
      </p:sp>
      <p:sp>
        <p:nvSpPr>
          <p:cNvPr id="91" name="Shape 17"/>
          <p:cNvSpPr/>
          <p:nvPr/>
        </p:nvSpPr>
        <p:spPr>
          <a:xfrm>
            <a:off x="475487" y="2240279"/>
            <a:ext cx="320041" cy="320041"/>
          </a:xfrm>
          <a:prstGeom prst="ellipse">
            <a:avLst/>
          </a:prstGeom>
          <a:solidFill>
            <a:srgbClr val="7C3AED"/>
          </a:solidFill>
          <a:ln w="12700">
            <a:miter lim="400000"/>
          </a:ln>
        </p:spPr>
        <p:txBody>
          <a:bodyPr lIns="45719" rIns="45719"/>
          <a:lstStyle/>
          <a:p>
            <a:endParaRPr/>
          </a:p>
        </p:txBody>
      </p:sp>
      <p:sp>
        <p:nvSpPr>
          <p:cNvPr id="92" name="Text 18"/>
          <p:cNvSpPr txBox="1"/>
          <p:nvPr/>
        </p:nvSpPr>
        <p:spPr>
          <a:xfrm>
            <a:off x="521207" y="2265680"/>
            <a:ext cx="22860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b="1">
                <a:solidFill>
                  <a:srgbClr val="FFFFFF"/>
                </a:solidFill>
                <a:latin typeface="Georgia"/>
                <a:ea typeface="Georgia"/>
                <a:cs typeface="Georgia"/>
                <a:sym typeface="Georgia"/>
              </a:defRPr>
            </a:lvl1pPr>
          </a:lstStyle>
          <a:p>
            <a:r>
              <a:t>3</a:t>
            </a:r>
          </a:p>
        </p:txBody>
      </p:sp>
      <p:sp>
        <p:nvSpPr>
          <p:cNvPr id="93" name="Text 19"/>
          <p:cNvSpPr txBox="1"/>
          <p:nvPr/>
        </p:nvSpPr>
        <p:spPr>
          <a:xfrm>
            <a:off x="914400" y="2182290"/>
            <a:ext cx="338328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A1A2E"/>
                </a:solidFill>
              </a:defRPr>
            </a:lvl1pPr>
          </a:lstStyle>
          <a:p>
            <a:r>
              <a:t>Algorithmic Leverage</a:t>
            </a:r>
          </a:p>
        </p:txBody>
      </p:sp>
      <p:sp>
        <p:nvSpPr>
          <p:cNvPr id="94" name="Text 20"/>
          <p:cNvSpPr txBox="1"/>
          <p:nvPr/>
        </p:nvSpPr>
        <p:spPr>
          <a:xfrm>
            <a:off x="914400" y="2393355"/>
            <a:ext cx="338328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7C3AED"/>
                </a:solidFill>
              </a:defRPr>
            </a:lvl1pPr>
          </a:lstStyle>
          <a:p>
            <a:r>
              <a:t>What new ways / algorithm /intelligence that hard to replicate ?</a:t>
            </a:r>
          </a:p>
        </p:txBody>
      </p:sp>
      <p:sp>
        <p:nvSpPr>
          <p:cNvPr id="95" name="Shape 21"/>
          <p:cNvSpPr/>
          <p:nvPr/>
        </p:nvSpPr>
        <p:spPr>
          <a:xfrm>
            <a:off x="365759" y="2743200"/>
            <a:ext cx="4114801" cy="50292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96" name="Shape 22"/>
          <p:cNvSpPr/>
          <p:nvPr/>
        </p:nvSpPr>
        <p:spPr>
          <a:xfrm>
            <a:off x="365759" y="2743200"/>
            <a:ext cx="36577" cy="502920"/>
          </a:xfrm>
          <a:prstGeom prst="rect">
            <a:avLst/>
          </a:prstGeom>
          <a:solidFill>
            <a:srgbClr val="0D9488"/>
          </a:solidFill>
          <a:ln w="12700">
            <a:miter lim="400000"/>
          </a:ln>
        </p:spPr>
        <p:txBody>
          <a:bodyPr lIns="45719" rIns="45719"/>
          <a:lstStyle/>
          <a:p>
            <a:endParaRPr/>
          </a:p>
        </p:txBody>
      </p:sp>
      <p:sp>
        <p:nvSpPr>
          <p:cNvPr id="97" name="Shape 23"/>
          <p:cNvSpPr/>
          <p:nvPr/>
        </p:nvSpPr>
        <p:spPr>
          <a:xfrm>
            <a:off x="475487" y="2834639"/>
            <a:ext cx="320041" cy="320041"/>
          </a:xfrm>
          <a:prstGeom prst="ellipse">
            <a:avLst/>
          </a:prstGeom>
          <a:solidFill>
            <a:srgbClr val="0D9488"/>
          </a:solidFill>
          <a:ln w="12700">
            <a:miter lim="400000"/>
          </a:ln>
        </p:spPr>
        <p:txBody>
          <a:bodyPr lIns="45719" rIns="45719"/>
          <a:lstStyle/>
          <a:p>
            <a:endParaRPr/>
          </a:p>
        </p:txBody>
      </p:sp>
      <p:sp>
        <p:nvSpPr>
          <p:cNvPr id="98" name="Text 24"/>
          <p:cNvSpPr txBox="1"/>
          <p:nvPr/>
        </p:nvSpPr>
        <p:spPr>
          <a:xfrm>
            <a:off x="521207" y="2860040"/>
            <a:ext cx="22860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b="1">
                <a:solidFill>
                  <a:srgbClr val="FFFFFF"/>
                </a:solidFill>
                <a:latin typeface="Georgia"/>
                <a:ea typeface="Georgia"/>
                <a:cs typeface="Georgia"/>
                <a:sym typeface="Georgia"/>
              </a:defRPr>
            </a:lvl1pPr>
          </a:lstStyle>
          <a:p>
            <a:r>
              <a:t>4</a:t>
            </a:r>
          </a:p>
        </p:txBody>
      </p:sp>
      <p:sp>
        <p:nvSpPr>
          <p:cNvPr id="99" name="Text 25"/>
          <p:cNvSpPr txBox="1"/>
          <p:nvPr/>
        </p:nvSpPr>
        <p:spPr>
          <a:xfrm>
            <a:off x="914400" y="2776650"/>
            <a:ext cx="3383280"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A1A2E"/>
                </a:solidFill>
              </a:defRPr>
            </a:lvl1pPr>
          </a:lstStyle>
          <a:p>
            <a:r>
              <a:t>Platform Dynamics</a:t>
            </a:r>
          </a:p>
        </p:txBody>
      </p:sp>
      <p:sp>
        <p:nvSpPr>
          <p:cNvPr id="100" name="Text 26"/>
          <p:cNvSpPr txBox="1"/>
          <p:nvPr/>
        </p:nvSpPr>
        <p:spPr>
          <a:xfrm>
            <a:off x="914400" y="2987715"/>
            <a:ext cx="3383280"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0D9488"/>
                </a:solidFill>
              </a:defRPr>
            </a:lvl1pPr>
          </a:lstStyle>
          <a:p>
            <a:r>
              <a:t>Can you create a two-sided market?</a:t>
            </a:r>
          </a:p>
        </p:txBody>
      </p:sp>
      <p:sp>
        <p:nvSpPr>
          <p:cNvPr id="101" name="Shape 27"/>
          <p:cNvSpPr/>
          <p:nvPr/>
        </p:nvSpPr>
        <p:spPr>
          <a:xfrm>
            <a:off x="4663440" y="960119"/>
            <a:ext cx="4114801" cy="50292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02" name="Shape 28"/>
          <p:cNvSpPr/>
          <p:nvPr/>
        </p:nvSpPr>
        <p:spPr>
          <a:xfrm>
            <a:off x="4663440" y="960119"/>
            <a:ext cx="36577" cy="502920"/>
          </a:xfrm>
          <a:prstGeom prst="rect">
            <a:avLst/>
          </a:prstGeom>
          <a:solidFill>
            <a:srgbClr val="EA580C"/>
          </a:solidFill>
          <a:ln w="12700">
            <a:miter lim="400000"/>
          </a:ln>
        </p:spPr>
        <p:txBody>
          <a:bodyPr lIns="45719" rIns="45719"/>
          <a:lstStyle/>
          <a:p>
            <a:endParaRPr/>
          </a:p>
        </p:txBody>
      </p:sp>
      <p:sp>
        <p:nvSpPr>
          <p:cNvPr id="103" name="Shape 29"/>
          <p:cNvSpPr/>
          <p:nvPr/>
        </p:nvSpPr>
        <p:spPr>
          <a:xfrm>
            <a:off x="4773167" y="1051560"/>
            <a:ext cx="320041" cy="320041"/>
          </a:xfrm>
          <a:prstGeom prst="ellipse">
            <a:avLst/>
          </a:prstGeom>
          <a:solidFill>
            <a:srgbClr val="EA580C"/>
          </a:solidFill>
          <a:ln w="12700">
            <a:miter lim="400000"/>
          </a:ln>
        </p:spPr>
        <p:txBody>
          <a:bodyPr lIns="45719" rIns="45719"/>
          <a:lstStyle/>
          <a:p>
            <a:endParaRPr/>
          </a:p>
        </p:txBody>
      </p:sp>
      <p:sp>
        <p:nvSpPr>
          <p:cNvPr id="104" name="Text 30"/>
          <p:cNvSpPr txBox="1"/>
          <p:nvPr/>
        </p:nvSpPr>
        <p:spPr>
          <a:xfrm>
            <a:off x="4818888" y="1076960"/>
            <a:ext cx="22860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b="1">
                <a:solidFill>
                  <a:srgbClr val="FFFFFF"/>
                </a:solidFill>
                <a:latin typeface="Georgia"/>
                <a:ea typeface="Georgia"/>
                <a:cs typeface="Georgia"/>
                <a:sym typeface="Georgia"/>
              </a:defRPr>
            </a:lvl1pPr>
          </a:lstStyle>
          <a:p>
            <a:r>
              <a:t>5</a:t>
            </a:r>
          </a:p>
        </p:txBody>
      </p:sp>
      <p:sp>
        <p:nvSpPr>
          <p:cNvPr id="105" name="Text 31"/>
          <p:cNvSpPr txBox="1"/>
          <p:nvPr/>
        </p:nvSpPr>
        <p:spPr>
          <a:xfrm>
            <a:off x="5212079" y="993570"/>
            <a:ext cx="3383281"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A1A2E"/>
                </a:solidFill>
              </a:defRPr>
            </a:lvl1pPr>
          </a:lstStyle>
          <a:p>
            <a:r>
              <a:t>Zero Marginal Cost</a:t>
            </a:r>
          </a:p>
        </p:txBody>
      </p:sp>
      <p:sp>
        <p:nvSpPr>
          <p:cNvPr id="106" name="Text 32"/>
          <p:cNvSpPr txBox="1"/>
          <p:nvPr/>
        </p:nvSpPr>
        <p:spPr>
          <a:xfrm>
            <a:off x="5212079" y="1204635"/>
            <a:ext cx="338328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EA580C"/>
                </a:solidFill>
              </a:defRPr>
            </a:lvl1pPr>
          </a:lstStyle>
          <a:p>
            <a:r>
              <a:t>Does 1,000th unit cost same as 1st?</a:t>
            </a:r>
          </a:p>
        </p:txBody>
      </p:sp>
      <p:sp>
        <p:nvSpPr>
          <p:cNvPr id="107" name="Shape 33"/>
          <p:cNvSpPr/>
          <p:nvPr/>
        </p:nvSpPr>
        <p:spPr>
          <a:xfrm>
            <a:off x="4663440" y="1554480"/>
            <a:ext cx="4114801" cy="50292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08" name="Shape 34"/>
          <p:cNvSpPr/>
          <p:nvPr/>
        </p:nvSpPr>
        <p:spPr>
          <a:xfrm>
            <a:off x="4663440" y="1554480"/>
            <a:ext cx="36577" cy="502920"/>
          </a:xfrm>
          <a:prstGeom prst="rect">
            <a:avLst/>
          </a:prstGeom>
          <a:solidFill>
            <a:srgbClr val="DC2626"/>
          </a:solidFill>
          <a:ln w="12700">
            <a:miter lim="400000"/>
          </a:ln>
        </p:spPr>
        <p:txBody>
          <a:bodyPr lIns="45719" rIns="45719"/>
          <a:lstStyle/>
          <a:p>
            <a:endParaRPr/>
          </a:p>
        </p:txBody>
      </p:sp>
      <p:sp>
        <p:nvSpPr>
          <p:cNvPr id="109" name="Shape 35"/>
          <p:cNvSpPr/>
          <p:nvPr/>
        </p:nvSpPr>
        <p:spPr>
          <a:xfrm>
            <a:off x="4773167" y="1645920"/>
            <a:ext cx="320041" cy="320041"/>
          </a:xfrm>
          <a:prstGeom prst="ellipse">
            <a:avLst/>
          </a:prstGeom>
          <a:solidFill>
            <a:srgbClr val="DC2626"/>
          </a:solidFill>
          <a:ln w="12700">
            <a:miter lim="400000"/>
          </a:ln>
        </p:spPr>
        <p:txBody>
          <a:bodyPr lIns="45719" rIns="45719"/>
          <a:lstStyle/>
          <a:p>
            <a:endParaRPr/>
          </a:p>
        </p:txBody>
      </p:sp>
      <p:sp>
        <p:nvSpPr>
          <p:cNvPr id="110" name="Text 36"/>
          <p:cNvSpPr txBox="1"/>
          <p:nvPr/>
        </p:nvSpPr>
        <p:spPr>
          <a:xfrm>
            <a:off x="4818888" y="1671320"/>
            <a:ext cx="22860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b="1">
                <a:solidFill>
                  <a:srgbClr val="FFFFFF"/>
                </a:solidFill>
                <a:latin typeface="Georgia"/>
                <a:ea typeface="Georgia"/>
                <a:cs typeface="Georgia"/>
                <a:sym typeface="Georgia"/>
              </a:defRPr>
            </a:lvl1pPr>
          </a:lstStyle>
          <a:p>
            <a:r>
              <a:t>6</a:t>
            </a:r>
          </a:p>
        </p:txBody>
      </p:sp>
      <p:sp>
        <p:nvSpPr>
          <p:cNvPr id="111" name="Text 37"/>
          <p:cNvSpPr txBox="1"/>
          <p:nvPr/>
        </p:nvSpPr>
        <p:spPr>
          <a:xfrm>
            <a:off x="5212079" y="1587930"/>
            <a:ext cx="3383281"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A1A2E"/>
                </a:solidFill>
              </a:defRPr>
            </a:lvl1pPr>
          </a:lstStyle>
          <a:p>
            <a:r>
              <a:t>Real-Time Dynamics</a:t>
            </a:r>
          </a:p>
        </p:txBody>
      </p:sp>
      <p:sp>
        <p:nvSpPr>
          <p:cNvPr id="112" name="Text 38"/>
          <p:cNvSpPr txBox="1"/>
          <p:nvPr/>
        </p:nvSpPr>
        <p:spPr>
          <a:xfrm>
            <a:off x="5212079" y="1798995"/>
            <a:ext cx="338328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DC2626"/>
                </a:solidFill>
              </a:defRPr>
            </a:lvl1pPr>
          </a:lstStyle>
          <a:p>
            <a:r>
              <a:t>What decisions are made too slowly?</a:t>
            </a:r>
          </a:p>
        </p:txBody>
      </p:sp>
      <p:sp>
        <p:nvSpPr>
          <p:cNvPr id="113" name="Shape 39"/>
          <p:cNvSpPr/>
          <p:nvPr/>
        </p:nvSpPr>
        <p:spPr>
          <a:xfrm>
            <a:off x="4663440" y="2148839"/>
            <a:ext cx="4114801" cy="50292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14" name="Shape 40"/>
          <p:cNvSpPr/>
          <p:nvPr/>
        </p:nvSpPr>
        <p:spPr>
          <a:xfrm>
            <a:off x="4663440" y="2148839"/>
            <a:ext cx="36577" cy="502920"/>
          </a:xfrm>
          <a:prstGeom prst="rect">
            <a:avLst/>
          </a:prstGeom>
          <a:solidFill>
            <a:srgbClr val="D97706"/>
          </a:solidFill>
          <a:ln w="12700">
            <a:miter lim="400000"/>
          </a:ln>
        </p:spPr>
        <p:txBody>
          <a:bodyPr lIns="45719" rIns="45719"/>
          <a:lstStyle/>
          <a:p>
            <a:endParaRPr/>
          </a:p>
        </p:txBody>
      </p:sp>
      <p:sp>
        <p:nvSpPr>
          <p:cNvPr id="115" name="Shape 41"/>
          <p:cNvSpPr/>
          <p:nvPr/>
        </p:nvSpPr>
        <p:spPr>
          <a:xfrm>
            <a:off x="4773167" y="2240279"/>
            <a:ext cx="320041" cy="320041"/>
          </a:xfrm>
          <a:prstGeom prst="ellipse">
            <a:avLst/>
          </a:prstGeom>
          <a:solidFill>
            <a:srgbClr val="D97706"/>
          </a:solidFill>
          <a:ln w="12700">
            <a:miter lim="400000"/>
          </a:ln>
        </p:spPr>
        <p:txBody>
          <a:bodyPr lIns="45719" rIns="45719"/>
          <a:lstStyle/>
          <a:p>
            <a:endParaRPr/>
          </a:p>
        </p:txBody>
      </p:sp>
      <p:sp>
        <p:nvSpPr>
          <p:cNvPr id="116" name="Text 42"/>
          <p:cNvSpPr txBox="1"/>
          <p:nvPr/>
        </p:nvSpPr>
        <p:spPr>
          <a:xfrm>
            <a:off x="4818888" y="2265680"/>
            <a:ext cx="22860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b="1">
                <a:solidFill>
                  <a:srgbClr val="FFFFFF"/>
                </a:solidFill>
                <a:latin typeface="Georgia"/>
                <a:ea typeface="Georgia"/>
                <a:cs typeface="Georgia"/>
                <a:sym typeface="Georgia"/>
              </a:defRPr>
            </a:lvl1pPr>
          </a:lstStyle>
          <a:p>
            <a:r>
              <a:t>7</a:t>
            </a:r>
          </a:p>
        </p:txBody>
      </p:sp>
      <p:sp>
        <p:nvSpPr>
          <p:cNvPr id="117" name="Text 43"/>
          <p:cNvSpPr txBox="1"/>
          <p:nvPr/>
        </p:nvSpPr>
        <p:spPr>
          <a:xfrm>
            <a:off x="5212079" y="2182290"/>
            <a:ext cx="3383281"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b="1">
                <a:solidFill>
                  <a:srgbClr val="1A1A2E"/>
                </a:solidFill>
              </a:defRPr>
            </a:lvl1pPr>
          </a:lstStyle>
          <a:p>
            <a:r>
              <a:t>Attention Economics</a:t>
            </a:r>
          </a:p>
        </p:txBody>
      </p:sp>
      <p:sp>
        <p:nvSpPr>
          <p:cNvPr id="118" name="Text 44"/>
          <p:cNvSpPr txBox="1"/>
          <p:nvPr/>
        </p:nvSpPr>
        <p:spPr>
          <a:xfrm>
            <a:off x="5212079" y="2393355"/>
            <a:ext cx="338328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D97706"/>
                </a:solidFill>
              </a:defRPr>
            </a:lvl1pPr>
          </a:lstStyle>
          <a:p>
            <a:r>
              <a:t>What captures and monetizes attention?</a:t>
            </a:r>
          </a:p>
        </p:txBody>
      </p:sp>
      <p:sp>
        <p:nvSpPr>
          <p:cNvPr id="119" name="Shape 45"/>
          <p:cNvSpPr/>
          <p:nvPr/>
        </p:nvSpPr>
        <p:spPr>
          <a:xfrm>
            <a:off x="365759" y="3474720"/>
            <a:ext cx="8412482" cy="1234441"/>
          </a:xfrm>
          <a:prstGeom prst="rect">
            <a:avLst/>
          </a:prstGeom>
          <a:solidFill>
            <a:srgbClr val="FFFBEB"/>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20" name="Shape 46"/>
          <p:cNvSpPr/>
          <p:nvPr/>
        </p:nvSpPr>
        <p:spPr>
          <a:xfrm>
            <a:off x="365759" y="3474720"/>
            <a:ext cx="45721" cy="1234441"/>
          </a:xfrm>
          <a:prstGeom prst="rect">
            <a:avLst/>
          </a:prstGeom>
          <a:solidFill>
            <a:srgbClr val="EA580C"/>
          </a:solidFill>
          <a:ln w="12700">
            <a:miter lim="400000"/>
          </a:ln>
        </p:spPr>
        <p:txBody>
          <a:bodyPr lIns="45719" rIns="45719"/>
          <a:lstStyle/>
          <a:p>
            <a:endParaRPr/>
          </a:p>
        </p:txBody>
      </p:sp>
      <p:sp>
        <p:nvSpPr>
          <p:cNvPr id="121" name="Text 47"/>
          <p:cNvSpPr txBox="1"/>
          <p:nvPr/>
        </p:nvSpPr>
        <p:spPr>
          <a:xfrm>
            <a:off x="640079" y="3520440"/>
            <a:ext cx="1737362" cy="228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EA580C"/>
                </a:solidFill>
              </a:defRPr>
            </a:lvl1pPr>
          </a:lstStyle>
          <a:p>
            <a:r>
              <a:t>YOUR TASK</a:t>
            </a:r>
          </a:p>
        </p:txBody>
      </p:sp>
      <p:sp>
        <p:nvSpPr>
          <p:cNvPr id="122" name="Text 48"/>
          <p:cNvSpPr txBox="1"/>
          <p:nvPr/>
        </p:nvSpPr>
        <p:spPr>
          <a:xfrm>
            <a:off x="640079" y="3749040"/>
            <a:ext cx="7863841" cy="791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1100" b="1">
                <a:solidFill>
                  <a:srgbClr val="1A1A2E"/>
                </a:solidFill>
              </a:defRPr>
            </a:pPr>
            <a:r>
              <a:t>Select First  3 levers</a:t>
            </a:r>
            <a:r>
              <a:rPr b="0">
                <a:solidFill>
                  <a:srgbClr val="3D3D5C"/>
                </a:solidFill>
              </a:rPr>
              <a:t>. </a:t>
            </a:r>
          </a:p>
          <a:p>
            <a:pPr>
              <a:lnSpc>
                <a:spcPct val="115000"/>
              </a:lnSpc>
              <a:defRPr sz="1100" b="1">
                <a:solidFill>
                  <a:srgbClr val="1A1A2E"/>
                </a:solidFill>
              </a:defRPr>
            </a:pPr>
            <a:endParaRPr b="0">
              <a:solidFill>
                <a:srgbClr val="3D3D5C"/>
              </a:solidFill>
            </a:endParaRPr>
          </a:p>
          <a:p>
            <a:pPr>
              <a:lnSpc>
                <a:spcPct val="115000"/>
              </a:lnSpc>
              <a:defRPr sz="1100" b="1">
                <a:solidFill>
                  <a:srgbClr val="1A1A2E"/>
                </a:solidFill>
              </a:defRPr>
            </a:pPr>
            <a:r>
              <a:rPr b="0">
                <a:solidFill>
                  <a:srgbClr val="3D3D5C"/>
                </a:solidFill>
              </a:rPr>
              <a:t>For each, </a:t>
            </a:r>
            <a:r>
              <a:rPr sz="1000">
                <a:solidFill>
                  <a:srgbClr val="2563EB"/>
                </a:solidFill>
              </a:rPr>
              <a:t> use the prompt given in each level “this” deck . deliberate on your problem with Agent —Fill the slides with your answer </a:t>
            </a:r>
          </a:p>
        </p:txBody>
      </p:sp>
      <p:sp>
        <p:nvSpPr>
          <p:cNvPr id="123"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124"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0"/>
          <p:cNvSpPr/>
          <p:nvPr/>
        </p:nvSpPr>
        <p:spPr>
          <a:xfrm>
            <a:off x="0" y="0"/>
            <a:ext cx="9144000" cy="54864"/>
          </a:xfrm>
          <a:prstGeom prst="rect">
            <a:avLst/>
          </a:prstGeom>
          <a:solidFill>
            <a:srgbClr val="D97706"/>
          </a:solidFill>
          <a:ln w="12700">
            <a:miter lim="400000"/>
          </a:ln>
        </p:spPr>
        <p:txBody>
          <a:bodyPr lIns="45719" rIns="45719"/>
          <a:lstStyle/>
          <a:p>
            <a:endParaRPr/>
          </a:p>
        </p:txBody>
      </p:sp>
      <p:sp>
        <p:nvSpPr>
          <p:cNvPr id="127" name="Shape 1"/>
          <p:cNvSpPr/>
          <p:nvPr/>
        </p:nvSpPr>
        <p:spPr>
          <a:xfrm>
            <a:off x="548640" y="274319"/>
            <a:ext cx="502921" cy="502922"/>
          </a:xfrm>
          <a:prstGeom prst="ellipse">
            <a:avLst/>
          </a:prstGeom>
          <a:solidFill>
            <a:srgbClr val="D97706"/>
          </a:solidFill>
          <a:ln w="12700">
            <a:miter lim="400000"/>
          </a:ln>
        </p:spPr>
        <p:txBody>
          <a:bodyPr lIns="45719" rIns="45719"/>
          <a:lstStyle/>
          <a:p>
            <a:endParaRPr/>
          </a:p>
        </p:txBody>
      </p:sp>
      <p:sp>
        <p:nvSpPr>
          <p:cNvPr id="128" name="Text 2"/>
          <p:cNvSpPr txBox="1"/>
          <p:nvPr/>
        </p:nvSpPr>
        <p:spPr>
          <a:xfrm>
            <a:off x="594359" y="340359"/>
            <a:ext cx="411480"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2000" b="1">
                <a:solidFill>
                  <a:srgbClr val="FFFFFF"/>
                </a:solidFill>
                <a:latin typeface="Georgia"/>
                <a:ea typeface="Georgia"/>
                <a:cs typeface="Georgia"/>
                <a:sym typeface="Georgia"/>
              </a:defRPr>
            </a:lvl1pPr>
          </a:lstStyle>
          <a:p>
            <a:r>
              <a:t>1</a:t>
            </a:r>
          </a:p>
        </p:txBody>
      </p:sp>
      <p:pic>
        <p:nvPicPr>
          <p:cNvPr id="129" name="Image 0" descr="Image 0"/>
          <p:cNvPicPr>
            <a:picLocks noChangeAspect="1"/>
          </p:cNvPicPr>
          <p:nvPr/>
        </p:nvPicPr>
        <p:blipFill>
          <a:blip r:embed="rId2"/>
          <a:stretch>
            <a:fillRect/>
          </a:stretch>
        </p:blipFill>
        <p:spPr>
          <a:xfrm>
            <a:off x="1188719" y="338327"/>
            <a:ext cx="365761" cy="365761"/>
          </a:xfrm>
          <a:prstGeom prst="rect">
            <a:avLst/>
          </a:prstGeom>
          <a:ln w="12700">
            <a:miter lim="400000"/>
          </a:ln>
        </p:spPr>
      </p:pic>
      <p:sp>
        <p:nvSpPr>
          <p:cNvPr id="130" name="Text 3"/>
          <p:cNvSpPr txBox="1"/>
          <p:nvPr/>
        </p:nvSpPr>
        <p:spPr>
          <a:xfrm>
            <a:off x="1691639" y="322579"/>
            <a:ext cx="4114801"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1A1A2E"/>
                </a:solidFill>
                <a:latin typeface="Georgia"/>
                <a:ea typeface="Georgia"/>
                <a:cs typeface="Georgia"/>
                <a:sym typeface="Georgia"/>
              </a:defRPr>
            </a:lvl1pPr>
          </a:lstStyle>
          <a:p>
            <a:r>
              <a:t>Data Liquidity</a:t>
            </a:r>
          </a:p>
        </p:txBody>
      </p:sp>
      <p:sp>
        <p:nvSpPr>
          <p:cNvPr id="131" name="Shape 4"/>
          <p:cNvSpPr/>
          <p:nvPr/>
        </p:nvSpPr>
        <p:spPr>
          <a:xfrm>
            <a:off x="6217920" y="320040"/>
            <a:ext cx="2560321" cy="365761"/>
          </a:xfrm>
          <a:prstGeom prst="rect">
            <a:avLst/>
          </a:prstGeom>
          <a:solidFill>
            <a:srgbClr val="D97706">
              <a:alpha val="12000"/>
            </a:srgbClr>
          </a:solidFill>
          <a:ln w="3175">
            <a:miter lim="400000"/>
          </a:ln>
        </p:spPr>
        <p:txBody>
          <a:bodyPr lIns="45719" rIns="45719"/>
          <a:lstStyle/>
          <a:p>
            <a:endParaRPr/>
          </a:p>
        </p:txBody>
      </p:sp>
      <p:sp>
        <p:nvSpPr>
          <p:cNvPr id="132" name="Text 5"/>
          <p:cNvSpPr txBox="1"/>
          <p:nvPr/>
        </p:nvSpPr>
        <p:spPr>
          <a:xfrm>
            <a:off x="6263640" y="388664"/>
            <a:ext cx="246888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000" b="1">
                <a:solidFill>
                  <a:srgbClr val="D97706"/>
                </a:solidFill>
              </a:defRPr>
            </a:lvl1pPr>
          </a:lstStyle>
          <a:p>
            <a:r>
              <a:t>Static Assets → Dynamic Value Engines</a:t>
            </a:r>
          </a:p>
        </p:txBody>
      </p:sp>
      <p:sp>
        <p:nvSpPr>
          <p:cNvPr id="133" name="Shape 6"/>
          <p:cNvSpPr/>
          <p:nvPr/>
        </p:nvSpPr>
        <p:spPr>
          <a:xfrm>
            <a:off x="548640" y="868680"/>
            <a:ext cx="8046719" cy="18289"/>
          </a:xfrm>
          <a:prstGeom prst="rect">
            <a:avLst/>
          </a:prstGeom>
          <a:solidFill>
            <a:srgbClr val="E5E7EB"/>
          </a:solidFill>
          <a:ln w="3175">
            <a:miter lim="400000"/>
          </a:ln>
        </p:spPr>
        <p:txBody>
          <a:bodyPr lIns="45719" rIns="45719"/>
          <a:lstStyle/>
          <a:p>
            <a:endParaRPr/>
          </a:p>
        </p:txBody>
      </p:sp>
      <p:sp>
        <p:nvSpPr>
          <p:cNvPr id="134" name="Shape 7"/>
          <p:cNvSpPr/>
          <p:nvPr/>
        </p:nvSpPr>
        <p:spPr>
          <a:xfrm>
            <a:off x="548640" y="1005839"/>
            <a:ext cx="8046719" cy="64008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35" name="Text 8"/>
          <p:cNvSpPr txBox="1"/>
          <p:nvPr/>
        </p:nvSpPr>
        <p:spPr>
          <a:xfrm>
            <a:off x="822960" y="1044991"/>
            <a:ext cx="17373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D97706"/>
                </a:solidFill>
              </a:defRPr>
            </a:lvl1pPr>
          </a:lstStyle>
          <a:p>
            <a:r>
              <a:t>THE QUESTION</a:t>
            </a:r>
          </a:p>
        </p:txBody>
      </p:sp>
      <p:sp>
        <p:nvSpPr>
          <p:cNvPr id="136" name="Text 9"/>
          <p:cNvSpPr txBox="1"/>
          <p:nvPr/>
        </p:nvSpPr>
        <p:spPr>
          <a:xfrm>
            <a:off x="822960" y="1198371"/>
            <a:ext cx="7498079" cy="447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defRPr sz="1200" i="1">
                <a:solidFill>
                  <a:srgbClr val="1A1A2E"/>
                </a:solidFill>
                <a:latin typeface="Georgia"/>
                <a:ea typeface="Georgia"/>
                <a:cs typeface="Georgia"/>
                <a:sym typeface="Georgia"/>
              </a:defRPr>
            </a:pPr>
            <a:r>
              <a:t>"What dormant data exists in this problem that, if activated, creates new value?” </a:t>
            </a:r>
            <a:r>
              <a:rPr b="1"/>
              <a:t>Or what new data that can be generated , if harnessed then create new value? </a:t>
            </a:r>
          </a:p>
        </p:txBody>
      </p:sp>
      <p:sp>
        <p:nvSpPr>
          <p:cNvPr id="137" name="Shape 10"/>
          <p:cNvSpPr/>
          <p:nvPr/>
        </p:nvSpPr>
        <p:spPr>
          <a:xfrm>
            <a:off x="548640" y="1828800"/>
            <a:ext cx="3840480" cy="146304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38" name="Shape 11"/>
          <p:cNvSpPr/>
          <p:nvPr/>
        </p:nvSpPr>
        <p:spPr>
          <a:xfrm>
            <a:off x="548640" y="1828800"/>
            <a:ext cx="45721" cy="1463041"/>
          </a:xfrm>
          <a:prstGeom prst="rect">
            <a:avLst/>
          </a:prstGeom>
          <a:solidFill>
            <a:srgbClr val="6B7280"/>
          </a:solidFill>
          <a:ln w="12700">
            <a:miter lim="400000"/>
          </a:ln>
        </p:spPr>
        <p:txBody>
          <a:bodyPr lIns="45719" rIns="45719"/>
          <a:lstStyle/>
          <a:p>
            <a:endParaRPr/>
          </a:p>
        </p:txBody>
      </p:sp>
      <p:sp>
        <p:nvSpPr>
          <p:cNvPr id="139" name="Text 12"/>
          <p:cNvSpPr txBox="1"/>
          <p:nvPr/>
        </p:nvSpPr>
        <p:spPr>
          <a:xfrm>
            <a:off x="822960" y="1886239"/>
            <a:ext cx="17373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6B7280"/>
                </a:solidFill>
              </a:defRPr>
            </a:lvl1pPr>
          </a:lstStyle>
          <a:p>
            <a:r>
              <a:t>PRINCIPLE</a:t>
            </a:r>
          </a:p>
        </p:txBody>
      </p:sp>
      <p:sp>
        <p:nvSpPr>
          <p:cNvPr id="140" name="Text 13"/>
          <p:cNvSpPr txBox="1"/>
          <p:nvPr/>
        </p:nvSpPr>
        <p:spPr>
          <a:xfrm>
            <a:off x="822960" y="2121407"/>
            <a:ext cx="3337560" cy="6364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30000"/>
              </a:lnSpc>
              <a:defRPr sz="1100">
                <a:solidFill>
                  <a:srgbClr val="3D3D5C"/>
                </a:solidFill>
              </a:defRPr>
            </a:lvl1pPr>
          </a:lstStyle>
          <a:p>
            <a:r>
              <a:t>Most organizations sit on massive data assets that are stagnant — collected but never monetized. Activating dormant data is the fastest path to new economics.</a:t>
            </a:r>
          </a:p>
        </p:txBody>
      </p:sp>
      <p:sp>
        <p:nvSpPr>
          <p:cNvPr id="141" name="Shape 14"/>
          <p:cNvSpPr/>
          <p:nvPr/>
        </p:nvSpPr>
        <p:spPr>
          <a:xfrm>
            <a:off x="4754879" y="1828800"/>
            <a:ext cx="3840481" cy="146304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42" name="Shape 15"/>
          <p:cNvSpPr/>
          <p:nvPr/>
        </p:nvSpPr>
        <p:spPr>
          <a:xfrm>
            <a:off x="4754879" y="1828800"/>
            <a:ext cx="45721" cy="1463041"/>
          </a:xfrm>
          <a:prstGeom prst="rect">
            <a:avLst/>
          </a:prstGeom>
          <a:solidFill>
            <a:srgbClr val="D97706"/>
          </a:solidFill>
          <a:ln w="12700">
            <a:miter lim="400000"/>
          </a:ln>
        </p:spPr>
        <p:txBody>
          <a:bodyPr lIns="45719" rIns="45719"/>
          <a:lstStyle/>
          <a:p>
            <a:endParaRPr/>
          </a:p>
        </p:txBody>
      </p:sp>
      <p:sp>
        <p:nvSpPr>
          <p:cNvPr id="143" name="Text 16"/>
          <p:cNvSpPr txBox="1"/>
          <p:nvPr/>
        </p:nvSpPr>
        <p:spPr>
          <a:xfrm>
            <a:off x="5029200" y="1886239"/>
            <a:ext cx="26517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D97706"/>
                </a:solidFill>
              </a:defRPr>
            </a:lvl1pPr>
          </a:lstStyle>
          <a:p>
            <a:r>
              <a:t>REAL-WORLD PROOF</a:t>
            </a:r>
          </a:p>
        </p:txBody>
      </p:sp>
      <p:sp>
        <p:nvSpPr>
          <p:cNvPr id="144" name="Text 17"/>
          <p:cNvSpPr txBox="1"/>
          <p:nvPr/>
        </p:nvSpPr>
        <p:spPr>
          <a:xfrm>
            <a:off x="5029200" y="2121407"/>
            <a:ext cx="3337560" cy="841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30000"/>
              </a:lnSpc>
              <a:defRPr sz="1100">
                <a:solidFill>
                  <a:srgbClr val="1A1A2E"/>
                </a:solidFill>
              </a:defRPr>
            </a:lvl1pPr>
          </a:lstStyle>
          <a:p>
            <a:r>
              <a:t>Netflix collects viewing data on 260M+ subscribers. Before activation: basic reporting. After: recommendation engine that saves $1B+/year in customer retention. Same data, different economics.</a:t>
            </a:r>
          </a:p>
        </p:txBody>
      </p:sp>
      <p:sp>
        <p:nvSpPr>
          <p:cNvPr id="145" name="Text 18"/>
          <p:cNvSpPr txBox="1"/>
          <p:nvPr/>
        </p:nvSpPr>
        <p:spPr>
          <a:xfrm>
            <a:off x="5029200" y="2974883"/>
            <a:ext cx="3337560" cy="323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i="1">
                <a:solidFill>
                  <a:srgbClr val="9CA3AF"/>
                </a:solidFill>
              </a:defRPr>
            </a:lvl1pPr>
          </a:lstStyle>
          <a:p>
            <a:r>
              <a:t>Netflix Engineering Blog; estimated $1B+ retention value widely cited by industry analysts</a:t>
            </a:r>
          </a:p>
        </p:txBody>
      </p:sp>
      <p:sp>
        <p:nvSpPr>
          <p:cNvPr id="146" name="Shape 19"/>
          <p:cNvSpPr/>
          <p:nvPr/>
        </p:nvSpPr>
        <p:spPr>
          <a:xfrm>
            <a:off x="548640" y="3520440"/>
            <a:ext cx="8046719" cy="1280161"/>
          </a:xfrm>
          <a:prstGeom prst="rect">
            <a:avLst/>
          </a:prstGeom>
          <a:solidFill>
            <a:srgbClr val="F0FDF4"/>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47" name="Shape 20"/>
          <p:cNvSpPr/>
          <p:nvPr/>
        </p:nvSpPr>
        <p:spPr>
          <a:xfrm>
            <a:off x="548640" y="3520440"/>
            <a:ext cx="45721" cy="1280161"/>
          </a:xfrm>
          <a:prstGeom prst="rect">
            <a:avLst/>
          </a:prstGeom>
          <a:solidFill>
            <a:srgbClr val="059669"/>
          </a:solidFill>
          <a:ln w="12700">
            <a:miter lim="400000"/>
          </a:ln>
        </p:spPr>
        <p:txBody>
          <a:bodyPr lIns="45719" rIns="45719"/>
          <a:lstStyle/>
          <a:p>
            <a:endParaRPr/>
          </a:p>
        </p:txBody>
      </p:sp>
      <p:pic>
        <p:nvPicPr>
          <p:cNvPr id="148" name="Image 1" descr="Image 1"/>
          <p:cNvPicPr>
            <a:picLocks noChangeAspect="1"/>
          </p:cNvPicPr>
          <p:nvPr/>
        </p:nvPicPr>
        <p:blipFill>
          <a:blip r:embed="rId3"/>
          <a:stretch>
            <a:fillRect/>
          </a:stretch>
        </p:blipFill>
        <p:spPr>
          <a:xfrm>
            <a:off x="777240" y="3593591"/>
            <a:ext cx="228601" cy="228601"/>
          </a:xfrm>
          <a:prstGeom prst="rect">
            <a:avLst/>
          </a:prstGeom>
          <a:ln w="12700">
            <a:miter lim="400000"/>
          </a:ln>
        </p:spPr>
      </p:pic>
      <p:sp>
        <p:nvSpPr>
          <p:cNvPr id="149" name="Text 21"/>
          <p:cNvSpPr txBox="1"/>
          <p:nvPr/>
        </p:nvSpPr>
        <p:spPr>
          <a:xfrm>
            <a:off x="1143000" y="3600362"/>
            <a:ext cx="4480560" cy="205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b="1" spc="100">
                <a:solidFill>
                  <a:srgbClr val="059669"/>
                </a:solidFill>
              </a:defRPr>
            </a:lvl1pPr>
          </a:lstStyle>
          <a:p>
            <a:r>
              <a:t>TRANSLATION PROMPT — Apply to YOUR Problem</a:t>
            </a:r>
          </a:p>
        </p:txBody>
      </p:sp>
      <p:sp>
        <p:nvSpPr>
          <p:cNvPr id="150" name="Text 22"/>
          <p:cNvSpPr txBox="1"/>
          <p:nvPr/>
        </p:nvSpPr>
        <p:spPr>
          <a:xfrm>
            <a:off x="822960" y="3886200"/>
            <a:ext cx="7498079" cy="485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30000"/>
              </a:lnSpc>
              <a:defRPr sz="1200">
                <a:solidFill>
                  <a:srgbClr val="1A1A2E"/>
                </a:solidFill>
              </a:defRPr>
            </a:pPr>
            <a:r>
              <a:rPr dirty="0"/>
              <a:t>Take your problem → Ask: "W</a:t>
            </a:r>
            <a:r>
              <a:rPr b="1" dirty="0"/>
              <a:t>hat new data that can be generated , if harnessed then create new value for my problem ? </a:t>
            </a:r>
            <a:r>
              <a:rPr dirty="0"/>
              <a:t>What data is being collected but NOT used to drive decisions or create value?"</a:t>
            </a:r>
          </a:p>
        </p:txBody>
      </p:sp>
      <p:sp>
        <p:nvSpPr>
          <p:cNvPr id="151" name="Google Shape;149;p16"/>
          <p:cNvSpPr/>
          <p:nvPr/>
        </p:nvSpPr>
        <p:spPr>
          <a:xfrm>
            <a:off x="0" y="4900050"/>
            <a:ext cx="9144000" cy="243450"/>
          </a:xfrm>
          <a:prstGeom prst="rect">
            <a:avLst/>
          </a:prstGeom>
          <a:solidFill>
            <a:srgbClr val="16444F"/>
          </a:solidFill>
          <a:ln w="3175">
            <a:solidFill>
              <a:srgbClr val="1F497D"/>
            </a:solidFill>
          </a:ln>
        </p:spPr>
        <p:txBody>
          <a:bodyPr lIns="22859" tIns="22859" rIns="22859" bIns="22859" anchor="ctr"/>
          <a:lstStyle/>
          <a:p>
            <a:pPr algn="ctr" defTabSz="457200">
              <a:defRPr sz="700"/>
            </a:pPr>
            <a:endParaRPr/>
          </a:p>
        </p:txBody>
      </p:sp>
      <p:sp>
        <p:nvSpPr>
          <p:cNvPr id="152"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4"/>
              </a:rPr>
              <a:t>Suchit</a:t>
            </a:r>
            <a:r>
              <a:t> </a:t>
            </a:r>
          </a:p>
        </p:txBody>
      </p:sp>
      <p:sp>
        <p:nvSpPr>
          <p:cNvPr id="153"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hape 0"/>
          <p:cNvSpPr/>
          <p:nvPr/>
        </p:nvSpPr>
        <p:spPr>
          <a:xfrm>
            <a:off x="0" y="-1"/>
            <a:ext cx="9144000" cy="45722"/>
          </a:xfrm>
          <a:prstGeom prst="rect">
            <a:avLst/>
          </a:prstGeom>
          <a:solidFill>
            <a:srgbClr val="EA580C"/>
          </a:solidFill>
          <a:ln w="12700">
            <a:miter lim="400000"/>
          </a:ln>
        </p:spPr>
        <p:txBody>
          <a:bodyPr lIns="45719" rIns="45719"/>
          <a:lstStyle/>
          <a:p>
            <a:endParaRPr/>
          </a:p>
        </p:txBody>
      </p:sp>
      <p:sp>
        <p:nvSpPr>
          <p:cNvPr id="156" name="Text 1"/>
          <p:cNvSpPr txBox="1"/>
          <p:nvPr/>
        </p:nvSpPr>
        <p:spPr>
          <a:xfrm>
            <a:off x="502919" y="182924"/>
            <a:ext cx="1465747"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EA580C"/>
                </a:solidFill>
              </a:defRPr>
            </a:lvl1pPr>
          </a:lstStyle>
          <a:p>
            <a:r>
              <a:t>STEP 2 &amp;  3 </a:t>
            </a:r>
          </a:p>
        </p:txBody>
      </p:sp>
      <p:sp>
        <p:nvSpPr>
          <p:cNvPr id="157"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t>Lever 1 : Data Liquidity</a:t>
            </a:r>
          </a:p>
        </p:txBody>
      </p:sp>
      <p:sp>
        <p:nvSpPr>
          <p:cNvPr id="158" name="Text 48"/>
          <p:cNvSpPr txBox="1"/>
          <p:nvPr/>
        </p:nvSpPr>
        <p:spPr>
          <a:xfrm>
            <a:off x="510744" y="1139471"/>
            <a:ext cx="7863841" cy="45921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1100" b="1">
                <a:solidFill>
                  <a:srgbClr val="1A1A2E"/>
                </a:solidFill>
              </a:defRPr>
            </a:pPr>
            <a:r>
              <a:rPr dirty="0"/>
              <a:t>Output of Lever 1: </a:t>
            </a:r>
            <a:endParaRPr lang="en-IN" dirty="0"/>
          </a:p>
          <a:p>
            <a:pPr>
              <a:lnSpc>
                <a:spcPct val="115000"/>
              </a:lnSpc>
              <a:defRPr sz="1100" b="1">
                <a:solidFill>
                  <a:srgbClr val="1A1A2E"/>
                </a:solidFill>
              </a:defRPr>
            </a:pPr>
            <a:endParaRPr lang="en-IN" dirty="0"/>
          </a:p>
          <a:p>
            <a:pPr>
              <a:lnSpc>
                <a:spcPct val="115000"/>
              </a:lnSpc>
              <a:defRPr sz="1100" b="1">
                <a:solidFill>
                  <a:srgbClr val="1A1A2E"/>
                </a:solidFill>
              </a:defRPr>
            </a:pPr>
            <a:endParaRPr lang="en-IN" dirty="0"/>
          </a:p>
          <a:p>
            <a:r>
              <a:rPr lang="en-US" sz="1400" b="1" dirty="0"/>
              <a:t>New “decision intelligence” data:</a:t>
            </a:r>
            <a:r>
              <a:rPr lang="en-US" sz="1400" dirty="0"/>
              <a:t> Your engine should generate derived signals like delivery confidence, skill‑fit, architecture readiness, and risk‑propagation scores instead of only storing raw task/resource data.</a:t>
            </a:r>
          </a:p>
          <a:p>
            <a:r>
              <a:rPr lang="en-US" sz="1400" b="1" dirty="0"/>
              <a:t>Untapped existing data:</a:t>
            </a:r>
            <a:r>
              <a:rPr lang="en-US" sz="1400" dirty="0"/>
              <a:t> Organizations already collect project requests, assignments, roles, skills, utilization, and delivery events, but they usually only use them for reporting, not for proactive staffing, planning, or escalation decisions.</a:t>
            </a:r>
          </a:p>
          <a:p>
            <a:r>
              <a:rPr lang="en-US" sz="1400" b="1" dirty="0"/>
              <a:t>High‑value hidden signals:</a:t>
            </a:r>
            <a:r>
              <a:rPr lang="en-US" sz="1400" dirty="0"/>
              <a:t> Underused data lives in skill‑to‑work mismatches, partial allocations, delayed approvals, repeated scope changes, chat/email communication patterns, and recurring bottlenecks that are not connected into a single decision layer.</a:t>
            </a:r>
          </a:p>
          <a:p>
            <a:r>
              <a:rPr lang="en-US" sz="1400" b="1" dirty="0"/>
              <a:t>Structured data layers for the engine:</a:t>
            </a:r>
            <a:r>
              <a:rPr lang="en-US" sz="1400" dirty="0"/>
              <a:t> Organize value data into workforce, work, governance, communication, and prediction layers so the system can turn raw delivery exhaust into personalized messages, trackers, and clear explanations for both experts and laymen.</a:t>
            </a:r>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p:txBody>
      </p:sp>
      <p:sp>
        <p:nvSpPr>
          <p:cNvPr id="159"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160"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Shape 0"/>
          <p:cNvSpPr/>
          <p:nvPr/>
        </p:nvSpPr>
        <p:spPr>
          <a:xfrm>
            <a:off x="0" y="0"/>
            <a:ext cx="9144000" cy="54864"/>
          </a:xfrm>
          <a:prstGeom prst="rect">
            <a:avLst/>
          </a:prstGeom>
          <a:solidFill>
            <a:srgbClr val="2563EB"/>
          </a:solidFill>
          <a:ln w="12700">
            <a:miter lim="400000"/>
          </a:ln>
        </p:spPr>
        <p:txBody>
          <a:bodyPr lIns="45719" rIns="45719"/>
          <a:lstStyle/>
          <a:p>
            <a:endParaRPr/>
          </a:p>
        </p:txBody>
      </p:sp>
      <p:sp>
        <p:nvSpPr>
          <p:cNvPr id="163" name="Shape 1"/>
          <p:cNvSpPr/>
          <p:nvPr/>
        </p:nvSpPr>
        <p:spPr>
          <a:xfrm>
            <a:off x="548640" y="274319"/>
            <a:ext cx="502921" cy="502922"/>
          </a:xfrm>
          <a:prstGeom prst="ellipse">
            <a:avLst/>
          </a:prstGeom>
          <a:solidFill>
            <a:srgbClr val="2563EB"/>
          </a:solidFill>
          <a:ln w="12700">
            <a:miter lim="400000"/>
          </a:ln>
        </p:spPr>
        <p:txBody>
          <a:bodyPr lIns="45719" rIns="45719"/>
          <a:lstStyle/>
          <a:p>
            <a:endParaRPr/>
          </a:p>
        </p:txBody>
      </p:sp>
      <p:sp>
        <p:nvSpPr>
          <p:cNvPr id="164" name="Text 2"/>
          <p:cNvSpPr txBox="1"/>
          <p:nvPr/>
        </p:nvSpPr>
        <p:spPr>
          <a:xfrm>
            <a:off x="594359" y="340359"/>
            <a:ext cx="411480"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2000" b="1">
                <a:solidFill>
                  <a:srgbClr val="FFFFFF"/>
                </a:solidFill>
                <a:latin typeface="Georgia"/>
                <a:ea typeface="Georgia"/>
                <a:cs typeface="Georgia"/>
                <a:sym typeface="Georgia"/>
              </a:defRPr>
            </a:lvl1pPr>
          </a:lstStyle>
          <a:p>
            <a:r>
              <a:t>2</a:t>
            </a:r>
          </a:p>
        </p:txBody>
      </p:sp>
      <p:pic>
        <p:nvPicPr>
          <p:cNvPr id="165" name="Image 0" descr="Image 0"/>
          <p:cNvPicPr>
            <a:picLocks noChangeAspect="1"/>
          </p:cNvPicPr>
          <p:nvPr/>
        </p:nvPicPr>
        <p:blipFill>
          <a:blip r:embed="rId2"/>
          <a:stretch>
            <a:fillRect/>
          </a:stretch>
        </p:blipFill>
        <p:spPr>
          <a:xfrm>
            <a:off x="1188719" y="338327"/>
            <a:ext cx="365761" cy="365761"/>
          </a:xfrm>
          <a:prstGeom prst="rect">
            <a:avLst/>
          </a:prstGeom>
          <a:ln w="12700">
            <a:miter lim="400000"/>
          </a:ln>
        </p:spPr>
      </p:pic>
      <p:sp>
        <p:nvSpPr>
          <p:cNvPr id="166" name="Text 3"/>
          <p:cNvSpPr txBox="1"/>
          <p:nvPr/>
        </p:nvSpPr>
        <p:spPr>
          <a:xfrm>
            <a:off x="1691639" y="322579"/>
            <a:ext cx="4114801"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1A1A2E"/>
                </a:solidFill>
                <a:latin typeface="Georgia"/>
                <a:ea typeface="Georgia"/>
                <a:cs typeface="Georgia"/>
                <a:sym typeface="Georgia"/>
              </a:defRPr>
            </a:lvl1pPr>
          </a:lstStyle>
          <a:p>
            <a:r>
              <a:t>Network Effects</a:t>
            </a:r>
          </a:p>
        </p:txBody>
      </p:sp>
      <p:sp>
        <p:nvSpPr>
          <p:cNvPr id="167" name="Shape 4"/>
          <p:cNvSpPr/>
          <p:nvPr/>
        </p:nvSpPr>
        <p:spPr>
          <a:xfrm>
            <a:off x="6217920" y="320040"/>
            <a:ext cx="2560321" cy="365761"/>
          </a:xfrm>
          <a:prstGeom prst="rect">
            <a:avLst/>
          </a:prstGeom>
          <a:solidFill>
            <a:srgbClr val="2563EB">
              <a:alpha val="12000"/>
            </a:srgbClr>
          </a:solidFill>
          <a:ln w="3175">
            <a:miter lim="400000"/>
          </a:ln>
        </p:spPr>
        <p:txBody>
          <a:bodyPr lIns="45719" rIns="45719"/>
          <a:lstStyle/>
          <a:p>
            <a:endParaRPr/>
          </a:p>
        </p:txBody>
      </p:sp>
      <p:sp>
        <p:nvSpPr>
          <p:cNvPr id="168" name="Text 5"/>
          <p:cNvSpPr txBox="1"/>
          <p:nvPr/>
        </p:nvSpPr>
        <p:spPr>
          <a:xfrm>
            <a:off x="6263640" y="388664"/>
            <a:ext cx="246888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000" b="1">
                <a:solidFill>
                  <a:srgbClr val="2563EB"/>
                </a:solidFill>
              </a:defRPr>
            </a:lvl1pPr>
          </a:lstStyle>
          <a:p>
            <a:r>
              <a:t>Linear Growth → Exponential Growth</a:t>
            </a:r>
          </a:p>
        </p:txBody>
      </p:sp>
      <p:sp>
        <p:nvSpPr>
          <p:cNvPr id="169" name="Shape 6"/>
          <p:cNvSpPr/>
          <p:nvPr/>
        </p:nvSpPr>
        <p:spPr>
          <a:xfrm>
            <a:off x="548640" y="868680"/>
            <a:ext cx="8046719" cy="18289"/>
          </a:xfrm>
          <a:prstGeom prst="rect">
            <a:avLst/>
          </a:prstGeom>
          <a:solidFill>
            <a:srgbClr val="E5E7EB"/>
          </a:solidFill>
          <a:ln w="3175">
            <a:miter lim="400000"/>
          </a:ln>
        </p:spPr>
        <p:txBody>
          <a:bodyPr lIns="45719" rIns="45719"/>
          <a:lstStyle/>
          <a:p>
            <a:endParaRPr/>
          </a:p>
        </p:txBody>
      </p:sp>
      <p:sp>
        <p:nvSpPr>
          <p:cNvPr id="170" name="Shape 7"/>
          <p:cNvSpPr/>
          <p:nvPr/>
        </p:nvSpPr>
        <p:spPr>
          <a:xfrm>
            <a:off x="548640" y="1005839"/>
            <a:ext cx="8046719" cy="64008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71" name="Text 8"/>
          <p:cNvSpPr txBox="1"/>
          <p:nvPr/>
        </p:nvSpPr>
        <p:spPr>
          <a:xfrm>
            <a:off x="822960" y="1044991"/>
            <a:ext cx="17373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2563EB"/>
                </a:solidFill>
              </a:defRPr>
            </a:lvl1pPr>
          </a:lstStyle>
          <a:p>
            <a:r>
              <a:t>THE QUESTION</a:t>
            </a:r>
          </a:p>
        </p:txBody>
      </p:sp>
      <p:sp>
        <p:nvSpPr>
          <p:cNvPr id="172" name="Text 9"/>
          <p:cNvSpPr txBox="1"/>
          <p:nvPr/>
        </p:nvSpPr>
        <p:spPr>
          <a:xfrm>
            <a:off x="822960" y="1287271"/>
            <a:ext cx="7498079"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i="1">
                <a:solidFill>
                  <a:srgbClr val="1A1A2E"/>
                </a:solidFill>
                <a:latin typeface="Georgia"/>
                <a:ea typeface="Georgia"/>
                <a:cs typeface="Georgia"/>
                <a:sym typeface="Georgia"/>
              </a:defRPr>
            </a:lvl1pPr>
          </a:lstStyle>
          <a:p>
            <a:r>
              <a:t>"Does my solution get BETTER when 1,000 people use it vs. 10? If not, how can I redesign it so it does?"</a:t>
            </a:r>
          </a:p>
        </p:txBody>
      </p:sp>
      <p:sp>
        <p:nvSpPr>
          <p:cNvPr id="173" name="Shape 10"/>
          <p:cNvSpPr/>
          <p:nvPr/>
        </p:nvSpPr>
        <p:spPr>
          <a:xfrm>
            <a:off x="548640" y="1828800"/>
            <a:ext cx="3840480" cy="146304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74" name="Shape 11"/>
          <p:cNvSpPr/>
          <p:nvPr/>
        </p:nvSpPr>
        <p:spPr>
          <a:xfrm>
            <a:off x="548640" y="1828800"/>
            <a:ext cx="45721" cy="1463041"/>
          </a:xfrm>
          <a:prstGeom prst="rect">
            <a:avLst/>
          </a:prstGeom>
          <a:solidFill>
            <a:srgbClr val="6B7280"/>
          </a:solidFill>
          <a:ln w="12700">
            <a:miter lim="400000"/>
          </a:ln>
        </p:spPr>
        <p:txBody>
          <a:bodyPr lIns="45719" rIns="45719"/>
          <a:lstStyle/>
          <a:p>
            <a:endParaRPr/>
          </a:p>
        </p:txBody>
      </p:sp>
      <p:sp>
        <p:nvSpPr>
          <p:cNvPr id="175" name="Text 12"/>
          <p:cNvSpPr txBox="1"/>
          <p:nvPr/>
        </p:nvSpPr>
        <p:spPr>
          <a:xfrm>
            <a:off x="822960" y="1886239"/>
            <a:ext cx="17373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6B7280"/>
                </a:solidFill>
              </a:defRPr>
            </a:lvl1pPr>
          </a:lstStyle>
          <a:p>
            <a:r>
              <a:t>PRINCIPLE</a:t>
            </a:r>
          </a:p>
        </p:txBody>
      </p:sp>
      <p:sp>
        <p:nvSpPr>
          <p:cNvPr id="176" name="Text 13"/>
          <p:cNvSpPr txBox="1"/>
          <p:nvPr/>
        </p:nvSpPr>
        <p:spPr>
          <a:xfrm>
            <a:off x="822960" y="2121407"/>
            <a:ext cx="3337560" cy="6364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30000"/>
              </a:lnSpc>
              <a:defRPr sz="1100">
                <a:solidFill>
                  <a:srgbClr val="3D3D5C"/>
                </a:solidFill>
              </a:defRPr>
            </a:lvl1pPr>
          </a:lstStyle>
          <a:p>
            <a:r>
              <a:t>Metcalfe's Law: V ∝ n². Every additional user multiplies value exponentially. Design systems where every user makes the system better for every other user.</a:t>
            </a:r>
          </a:p>
        </p:txBody>
      </p:sp>
      <p:sp>
        <p:nvSpPr>
          <p:cNvPr id="177" name="Shape 14"/>
          <p:cNvSpPr/>
          <p:nvPr/>
        </p:nvSpPr>
        <p:spPr>
          <a:xfrm>
            <a:off x="4754879" y="1828800"/>
            <a:ext cx="3840481" cy="146304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78" name="Shape 15"/>
          <p:cNvSpPr/>
          <p:nvPr/>
        </p:nvSpPr>
        <p:spPr>
          <a:xfrm>
            <a:off x="4754879" y="1828800"/>
            <a:ext cx="45721" cy="1463041"/>
          </a:xfrm>
          <a:prstGeom prst="rect">
            <a:avLst/>
          </a:prstGeom>
          <a:solidFill>
            <a:srgbClr val="2563EB"/>
          </a:solidFill>
          <a:ln w="12700">
            <a:miter lim="400000"/>
          </a:ln>
        </p:spPr>
        <p:txBody>
          <a:bodyPr lIns="45719" rIns="45719"/>
          <a:lstStyle/>
          <a:p>
            <a:endParaRPr/>
          </a:p>
        </p:txBody>
      </p:sp>
      <p:sp>
        <p:nvSpPr>
          <p:cNvPr id="179" name="Text 16"/>
          <p:cNvSpPr txBox="1"/>
          <p:nvPr/>
        </p:nvSpPr>
        <p:spPr>
          <a:xfrm>
            <a:off x="5029200" y="1886239"/>
            <a:ext cx="26517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2563EB"/>
                </a:solidFill>
              </a:defRPr>
            </a:lvl1pPr>
          </a:lstStyle>
          <a:p>
            <a:r>
              <a:t>REAL-WORLD PROOF</a:t>
            </a:r>
          </a:p>
        </p:txBody>
      </p:sp>
      <p:sp>
        <p:nvSpPr>
          <p:cNvPr id="180" name="Text 17"/>
          <p:cNvSpPr txBox="1"/>
          <p:nvPr/>
        </p:nvSpPr>
        <p:spPr>
          <a:xfrm>
            <a:off x="5029200" y="2121407"/>
            <a:ext cx="3337560" cy="841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30000"/>
              </a:lnSpc>
              <a:defRPr sz="1100">
                <a:solidFill>
                  <a:srgbClr val="1A1A2E"/>
                </a:solidFill>
              </a:defRPr>
            </a:lvl1pPr>
          </a:lstStyle>
          <a:p>
            <a:r>
              <a:t>TikTok's algorithm gains accuracy with every interaction — each swipe trains the model. Result: 133M users (2018) → ~2 billion (2025) in 5 years. Facebook took 10 years for equivalent growth.</a:t>
            </a:r>
          </a:p>
        </p:txBody>
      </p:sp>
      <p:sp>
        <p:nvSpPr>
          <p:cNvPr id="181" name="Text 18"/>
          <p:cNvSpPr txBox="1"/>
          <p:nvPr/>
        </p:nvSpPr>
        <p:spPr>
          <a:xfrm>
            <a:off x="5029200" y="2974883"/>
            <a:ext cx="3337560" cy="323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i="1">
                <a:solidFill>
                  <a:srgbClr val="9CA3AF"/>
                </a:solidFill>
              </a:defRPr>
            </a:lvl1pPr>
          </a:lstStyle>
          <a:p>
            <a:r>
              <a:t>Metcalfe's Law validated: Zhang, Liu &amp; Xu, J. Computer Science &amp; Technology, 2015</a:t>
            </a:r>
          </a:p>
        </p:txBody>
      </p:sp>
      <p:sp>
        <p:nvSpPr>
          <p:cNvPr id="182" name="Shape 19"/>
          <p:cNvSpPr/>
          <p:nvPr/>
        </p:nvSpPr>
        <p:spPr>
          <a:xfrm>
            <a:off x="548640" y="3520440"/>
            <a:ext cx="8046719" cy="1280161"/>
          </a:xfrm>
          <a:prstGeom prst="rect">
            <a:avLst/>
          </a:prstGeom>
          <a:solidFill>
            <a:srgbClr val="F0FDF4"/>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183" name="Shape 20"/>
          <p:cNvSpPr/>
          <p:nvPr/>
        </p:nvSpPr>
        <p:spPr>
          <a:xfrm>
            <a:off x="548640" y="3520440"/>
            <a:ext cx="45721" cy="1280161"/>
          </a:xfrm>
          <a:prstGeom prst="rect">
            <a:avLst/>
          </a:prstGeom>
          <a:solidFill>
            <a:srgbClr val="059669"/>
          </a:solidFill>
          <a:ln w="12700">
            <a:miter lim="400000"/>
          </a:ln>
        </p:spPr>
        <p:txBody>
          <a:bodyPr lIns="45719" rIns="45719"/>
          <a:lstStyle/>
          <a:p>
            <a:endParaRPr/>
          </a:p>
        </p:txBody>
      </p:sp>
      <p:pic>
        <p:nvPicPr>
          <p:cNvPr id="184" name="Image 1" descr="Image 1"/>
          <p:cNvPicPr>
            <a:picLocks noChangeAspect="1"/>
          </p:cNvPicPr>
          <p:nvPr/>
        </p:nvPicPr>
        <p:blipFill>
          <a:blip r:embed="rId3"/>
          <a:stretch>
            <a:fillRect/>
          </a:stretch>
        </p:blipFill>
        <p:spPr>
          <a:xfrm>
            <a:off x="777240" y="3593591"/>
            <a:ext cx="228601" cy="228601"/>
          </a:xfrm>
          <a:prstGeom prst="rect">
            <a:avLst/>
          </a:prstGeom>
          <a:ln w="12700">
            <a:miter lim="400000"/>
          </a:ln>
        </p:spPr>
      </p:pic>
      <p:sp>
        <p:nvSpPr>
          <p:cNvPr id="185" name="Text 21"/>
          <p:cNvSpPr txBox="1"/>
          <p:nvPr/>
        </p:nvSpPr>
        <p:spPr>
          <a:xfrm>
            <a:off x="1143000" y="3600362"/>
            <a:ext cx="4480560" cy="205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b="1" spc="100">
                <a:solidFill>
                  <a:srgbClr val="059669"/>
                </a:solidFill>
              </a:defRPr>
            </a:lvl1pPr>
          </a:lstStyle>
          <a:p>
            <a:r>
              <a:t>TRANSLATION PROMPT — Apply to YOUR Problem</a:t>
            </a:r>
          </a:p>
        </p:txBody>
      </p:sp>
      <p:sp>
        <p:nvSpPr>
          <p:cNvPr id="186" name="Text 22"/>
          <p:cNvSpPr txBox="1"/>
          <p:nvPr/>
        </p:nvSpPr>
        <p:spPr>
          <a:xfrm>
            <a:off x="822960" y="3886200"/>
            <a:ext cx="7498079" cy="485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30000"/>
              </a:lnSpc>
              <a:defRPr sz="1200">
                <a:solidFill>
                  <a:srgbClr val="1A1A2E"/>
                </a:solidFill>
              </a:defRPr>
            </a:lvl1pPr>
          </a:lstStyle>
          <a:p>
            <a:r>
              <a:rPr dirty="0"/>
              <a:t>Take your problem → Ask: "Does my solution get BETTER when 1,000 people use it vs. 10? If not, how can I redesign it so it does?"</a:t>
            </a:r>
          </a:p>
        </p:txBody>
      </p:sp>
      <p:sp>
        <p:nvSpPr>
          <p:cNvPr id="187" name="Google Shape;149;p16"/>
          <p:cNvSpPr/>
          <p:nvPr/>
        </p:nvSpPr>
        <p:spPr>
          <a:xfrm>
            <a:off x="0" y="4900050"/>
            <a:ext cx="9144000" cy="243450"/>
          </a:xfrm>
          <a:prstGeom prst="rect">
            <a:avLst/>
          </a:prstGeom>
          <a:solidFill>
            <a:srgbClr val="16444F"/>
          </a:solidFill>
          <a:ln w="3175">
            <a:solidFill>
              <a:srgbClr val="1F497D"/>
            </a:solidFill>
          </a:ln>
        </p:spPr>
        <p:txBody>
          <a:bodyPr lIns="22859" tIns="22859" rIns="22859" bIns="22859" anchor="ctr"/>
          <a:lstStyle/>
          <a:p>
            <a:pPr algn="ctr" defTabSz="457200">
              <a:defRPr sz="700"/>
            </a:pPr>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Shape 0"/>
          <p:cNvSpPr/>
          <p:nvPr/>
        </p:nvSpPr>
        <p:spPr>
          <a:xfrm>
            <a:off x="0" y="-1"/>
            <a:ext cx="9144000" cy="45722"/>
          </a:xfrm>
          <a:prstGeom prst="rect">
            <a:avLst/>
          </a:prstGeom>
          <a:solidFill>
            <a:srgbClr val="EA580C"/>
          </a:solidFill>
          <a:ln w="12700">
            <a:miter lim="400000"/>
          </a:ln>
        </p:spPr>
        <p:txBody>
          <a:bodyPr lIns="45719" rIns="45719"/>
          <a:lstStyle/>
          <a:p>
            <a:endParaRPr/>
          </a:p>
        </p:txBody>
      </p:sp>
      <p:sp>
        <p:nvSpPr>
          <p:cNvPr id="190" name="Text 1"/>
          <p:cNvSpPr txBox="1"/>
          <p:nvPr/>
        </p:nvSpPr>
        <p:spPr>
          <a:xfrm>
            <a:off x="502919" y="182924"/>
            <a:ext cx="1465747"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EA580C"/>
                </a:solidFill>
              </a:defRPr>
            </a:lvl1pPr>
          </a:lstStyle>
          <a:p>
            <a:r>
              <a:t>STEP 2 &amp;  3 </a:t>
            </a:r>
          </a:p>
        </p:txBody>
      </p:sp>
      <p:sp>
        <p:nvSpPr>
          <p:cNvPr id="191"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t>Lever 2 : Network Effects</a:t>
            </a:r>
          </a:p>
        </p:txBody>
      </p:sp>
      <p:sp>
        <p:nvSpPr>
          <p:cNvPr id="192" name="Text 48"/>
          <p:cNvSpPr txBox="1"/>
          <p:nvPr/>
        </p:nvSpPr>
        <p:spPr>
          <a:xfrm>
            <a:off x="510744" y="1139471"/>
            <a:ext cx="7863841" cy="39665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1100" b="1">
                <a:solidFill>
                  <a:srgbClr val="1A1A2E"/>
                </a:solidFill>
              </a:defRPr>
            </a:pPr>
            <a:r>
              <a:rPr dirty="0"/>
              <a:t>Output of Lever :</a:t>
            </a:r>
            <a:endParaRPr lang="en-IN" dirty="0"/>
          </a:p>
          <a:p>
            <a:pPr>
              <a:lnSpc>
                <a:spcPct val="115000"/>
              </a:lnSpc>
              <a:defRPr sz="1100" b="1">
                <a:solidFill>
                  <a:srgbClr val="1A1A2E"/>
                </a:solidFill>
              </a:defRPr>
            </a:pPr>
            <a:endParaRPr lang="en-IN" dirty="0"/>
          </a:p>
          <a:p>
            <a:r>
              <a:rPr lang="en-US" sz="1400" b="1" dirty="0"/>
              <a:t>Expectation</a:t>
            </a:r>
            <a:r>
              <a:rPr lang="en-US" sz="1400" dirty="0"/>
              <a:t>: Your AI Project Management Orchestration Engine should get smarter and more accurate at 1,000 users than at 10, because larger scale brings richer patterns in staffing, risks, and communication that can be reused across projects.</a:t>
            </a:r>
          </a:p>
          <a:p>
            <a:r>
              <a:rPr lang="en-US" sz="1400" b="1" dirty="0"/>
              <a:t>1) </a:t>
            </a:r>
            <a:r>
              <a:rPr lang="en-US" sz="1400" dirty="0"/>
              <a:t>Build a </a:t>
            </a:r>
            <a:r>
              <a:rPr lang="en-US" sz="1400" b="1" dirty="0"/>
              <a:t>shared “project pattern bank”</a:t>
            </a:r>
            <a:r>
              <a:rPr lang="en-US" sz="1400" dirty="0"/>
              <a:t> — store anonymized project structures, decisions, and outcomes so the system can recommend “what worked for similar projects” instead of just applying generic rules.</a:t>
            </a:r>
          </a:p>
          <a:p>
            <a:r>
              <a:rPr lang="en-US" sz="1400" b="1" dirty="0"/>
              <a:t>2) </a:t>
            </a:r>
            <a:r>
              <a:rPr lang="en-US" sz="1400" dirty="0"/>
              <a:t>Turn </a:t>
            </a:r>
            <a:r>
              <a:rPr lang="en-US" sz="1400" b="1" dirty="0"/>
              <a:t>user behavior into feedback loops</a:t>
            </a:r>
            <a:r>
              <a:rPr lang="en-US" sz="1400" dirty="0"/>
              <a:t> — log when recommendations are ignored or overridden, then use that to refine escalation, resourcing, and messaging logic over time.</a:t>
            </a:r>
          </a:p>
          <a:p>
            <a:r>
              <a:rPr lang="en-US" sz="1400" b="1" dirty="0"/>
              <a:t>3) Decentralize execution, centralize learning</a:t>
            </a:r>
            <a:r>
              <a:rPr lang="en-US" sz="1400" dirty="0"/>
              <a:t> — let teams run workflows locally, but feed decision paths and outcomes to a central learning layer so the engine improves for everyone without propagating errors.</a:t>
            </a:r>
          </a:p>
          <a:p>
            <a:pPr>
              <a:lnSpc>
                <a:spcPct val="115000"/>
              </a:lnSpc>
              <a:defRPr sz="1100" b="1">
                <a:solidFill>
                  <a:srgbClr val="1A1A2E"/>
                </a:solidFill>
              </a:defRPr>
            </a:pPr>
            <a:r>
              <a:rPr dirty="0"/>
              <a:t> </a:t>
            </a:r>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p:txBody>
      </p:sp>
      <p:sp>
        <p:nvSpPr>
          <p:cNvPr id="193"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194"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Shape 0"/>
          <p:cNvSpPr/>
          <p:nvPr/>
        </p:nvSpPr>
        <p:spPr>
          <a:xfrm>
            <a:off x="0" y="0"/>
            <a:ext cx="9144000" cy="54864"/>
          </a:xfrm>
          <a:prstGeom prst="rect">
            <a:avLst/>
          </a:prstGeom>
          <a:solidFill>
            <a:srgbClr val="DC2626"/>
          </a:solidFill>
          <a:ln w="12700">
            <a:miter lim="400000"/>
          </a:ln>
        </p:spPr>
        <p:txBody>
          <a:bodyPr lIns="45719" rIns="45719"/>
          <a:lstStyle/>
          <a:p>
            <a:endParaRPr/>
          </a:p>
        </p:txBody>
      </p:sp>
      <p:sp>
        <p:nvSpPr>
          <p:cNvPr id="197" name="Shape 1"/>
          <p:cNvSpPr/>
          <p:nvPr/>
        </p:nvSpPr>
        <p:spPr>
          <a:xfrm>
            <a:off x="548640" y="274319"/>
            <a:ext cx="502921" cy="502922"/>
          </a:xfrm>
          <a:prstGeom prst="ellipse">
            <a:avLst/>
          </a:prstGeom>
          <a:solidFill>
            <a:srgbClr val="DC2626"/>
          </a:solidFill>
          <a:ln w="12700">
            <a:miter lim="400000"/>
          </a:ln>
        </p:spPr>
        <p:txBody>
          <a:bodyPr lIns="45719" rIns="45719"/>
          <a:lstStyle/>
          <a:p>
            <a:endParaRPr/>
          </a:p>
        </p:txBody>
      </p:sp>
      <p:sp>
        <p:nvSpPr>
          <p:cNvPr id="198" name="Text 2"/>
          <p:cNvSpPr txBox="1"/>
          <p:nvPr/>
        </p:nvSpPr>
        <p:spPr>
          <a:xfrm>
            <a:off x="594359" y="340359"/>
            <a:ext cx="411480"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2000" b="1">
                <a:solidFill>
                  <a:srgbClr val="FFFFFF"/>
                </a:solidFill>
                <a:latin typeface="Georgia"/>
                <a:ea typeface="Georgia"/>
                <a:cs typeface="Georgia"/>
                <a:sym typeface="Georgia"/>
              </a:defRPr>
            </a:lvl1pPr>
          </a:lstStyle>
          <a:p>
            <a:r>
              <a:t>3</a:t>
            </a:r>
          </a:p>
        </p:txBody>
      </p:sp>
      <p:pic>
        <p:nvPicPr>
          <p:cNvPr id="199" name="Image 0" descr="Image 0"/>
          <p:cNvPicPr>
            <a:picLocks noChangeAspect="1"/>
          </p:cNvPicPr>
          <p:nvPr/>
        </p:nvPicPr>
        <p:blipFill>
          <a:blip r:embed="rId2"/>
          <a:stretch>
            <a:fillRect/>
          </a:stretch>
        </p:blipFill>
        <p:spPr>
          <a:xfrm>
            <a:off x="1188719" y="338327"/>
            <a:ext cx="365761" cy="365761"/>
          </a:xfrm>
          <a:prstGeom prst="rect">
            <a:avLst/>
          </a:prstGeom>
          <a:ln w="12700">
            <a:miter lim="400000"/>
          </a:ln>
        </p:spPr>
      </p:pic>
      <p:sp>
        <p:nvSpPr>
          <p:cNvPr id="200" name="Text 3"/>
          <p:cNvSpPr txBox="1"/>
          <p:nvPr/>
        </p:nvSpPr>
        <p:spPr>
          <a:xfrm>
            <a:off x="1691639" y="322579"/>
            <a:ext cx="4114801"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1A1A2E"/>
                </a:solidFill>
                <a:latin typeface="Georgia"/>
                <a:ea typeface="Georgia"/>
                <a:cs typeface="Georgia"/>
                <a:sym typeface="Georgia"/>
              </a:defRPr>
            </a:lvl1pPr>
          </a:lstStyle>
          <a:p>
            <a:r>
              <a:t>Algorithmic Leverage</a:t>
            </a:r>
          </a:p>
        </p:txBody>
      </p:sp>
      <p:sp>
        <p:nvSpPr>
          <p:cNvPr id="201" name="Shape 4"/>
          <p:cNvSpPr/>
          <p:nvPr/>
        </p:nvSpPr>
        <p:spPr>
          <a:xfrm>
            <a:off x="6217920" y="320040"/>
            <a:ext cx="2560321" cy="365761"/>
          </a:xfrm>
          <a:prstGeom prst="rect">
            <a:avLst/>
          </a:prstGeom>
          <a:solidFill>
            <a:srgbClr val="DC2626">
              <a:alpha val="12000"/>
            </a:srgbClr>
          </a:solidFill>
          <a:ln w="3175">
            <a:miter lim="400000"/>
          </a:ln>
        </p:spPr>
        <p:txBody>
          <a:bodyPr lIns="45719" rIns="45719"/>
          <a:lstStyle/>
          <a:p>
            <a:endParaRPr/>
          </a:p>
        </p:txBody>
      </p:sp>
      <p:sp>
        <p:nvSpPr>
          <p:cNvPr id="202" name="Text 5"/>
          <p:cNvSpPr txBox="1"/>
          <p:nvPr/>
        </p:nvSpPr>
        <p:spPr>
          <a:xfrm>
            <a:off x="6263640" y="388664"/>
            <a:ext cx="246888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000" b="1">
                <a:solidFill>
                  <a:srgbClr val="DC2626"/>
                </a:solidFill>
              </a:defRPr>
            </a:lvl1pPr>
          </a:lstStyle>
          <a:p>
            <a:r>
              <a:t>Human Bottleneck → Machine Scale</a:t>
            </a:r>
          </a:p>
        </p:txBody>
      </p:sp>
      <p:sp>
        <p:nvSpPr>
          <p:cNvPr id="203" name="Shape 6"/>
          <p:cNvSpPr/>
          <p:nvPr/>
        </p:nvSpPr>
        <p:spPr>
          <a:xfrm>
            <a:off x="548640" y="868680"/>
            <a:ext cx="8046719" cy="18289"/>
          </a:xfrm>
          <a:prstGeom prst="rect">
            <a:avLst/>
          </a:prstGeom>
          <a:solidFill>
            <a:srgbClr val="E5E7EB"/>
          </a:solidFill>
          <a:ln w="3175">
            <a:miter lim="400000"/>
          </a:ln>
        </p:spPr>
        <p:txBody>
          <a:bodyPr lIns="45719" rIns="45719"/>
          <a:lstStyle/>
          <a:p>
            <a:endParaRPr/>
          </a:p>
        </p:txBody>
      </p:sp>
      <p:sp>
        <p:nvSpPr>
          <p:cNvPr id="204" name="Shape 7"/>
          <p:cNvSpPr/>
          <p:nvPr/>
        </p:nvSpPr>
        <p:spPr>
          <a:xfrm>
            <a:off x="548640" y="1005839"/>
            <a:ext cx="8046719" cy="64008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05" name="Text 8"/>
          <p:cNvSpPr txBox="1"/>
          <p:nvPr/>
        </p:nvSpPr>
        <p:spPr>
          <a:xfrm>
            <a:off x="822960" y="1044991"/>
            <a:ext cx="17373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DC2626"/>
                </a:solidFill>
              </a:defRPr>
            </a:lvl1pPr>
          </a:lstStyle>
          <a:p>
            <a:r>
              <a:t>THE QUESTION</a:t>
            </a:r>
          </a:p>
        </p:txBody>
      </p:sp>
      <p:sp>
        <p:nvSpPr>
          <p:cNvPr id="206" name="Text 9"/>
          <p:cNvSpPr txBox="1"/>
          <p:nvPr/>
        </p:nvSpPr>
        <p:spPr>
          <a:xfrm>
            <a:off x="822960" y="1287271"/>
            <a:ext cx="7498079"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defRPr sz="1200" i="1">
                <a:solidFill>
                  <a:srgbClr val="1A1A2E"/>
                </a:solidFill>
                <a:latin typeface="Georgia"/>
                <a:ea typeface="Georgia"/>
                <a:cs typeface="Georgia"/>
                <a:sym typeface="Georgia"/>
              </a:defRPr>
            </a:pPr>
            <a:r>
              <a:t>"</a:t>
            </a:r>
            <a:r>
              <a:rPr b="1"/>
              <a:t>what intelligence that I can build which will be difficult to replicate ( e.g. Data harness)</a:t>
            </a:r>
          </a:p>
        </p:txBody>
      </p:sp>
      <p:sp>
        <p:nvSpPr>
          <p:cNvPr id="207" name="Shape 10"/>
          <p:cNvSpPr/>
          <p:nvPr/>
        </p:nvSpPr>
        <p:spPr>
          <a:xfrm>
            <a:off x="548640" y="1828800"/>
            <a:ext cx="3840480" cy="146304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08" name="Shape 11"/>
          <p:cNvSpPr/>
          <p:nvPr/>
        </p:nvSpPr>
        <p:spPr>
          <a:xfrm>
            <a:off x="548640" y="1828800"/>
            <a:ext cx="45721" cy="1463041"/>
          </a:xfrm>
          <a:prstGeom prst="rect">
            <a:avLst/>
          </a:prstGeom>
          <a:solidFill>
            <a:srgbClr val="6B7280"/>
          </a:solidFill>
          <a:ln w="12700">
            <a:miter lim="400000"/>
          </a:ln>
        </p:spPr>
        <p:txBody>
          <a:bodyPr lIns="45719" rIns="45719"/>
          <a:lstStyle/>
          <a:p>
            <a:endParaRPr/>
          </a:p>
        </p:txBody>
      </p:sp>
      <p:sp>
        <p:nvSpPr>
          <p:cNvPr id="209" name="Text 12"/>
          <p:cNvSpPr txBox="1"/>
          <p:nvPr/>
        </p:nvSpPr>
        <p:spPr>
          <a:xfrm>
            <a:off x="822960" y="1886239"/>
            <a:ext cx="17373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6B7280"/>
                </a:solidFill>
              </a:defRPr>
            </a:lvl1pPr>
          </a:lstStyle>
          <a:p>
            <a:r>
              <a:t>PRINCIPLE</a:t>
            </a:r>
          </a:p>
        </p:txBody>
      </p:sp>
      <p:sp>
        <p:nvSpPr>
          <p:cNvPr id="210" name="Text 13"/>
          <p:cNvSpPr txBox="1"/>
          <p:nvPr/>
        </p:nvSpPr>
        <p:spPr>
          <a:xfrm>
            <a:off x="822960" y="2121407"/>
            <a:ext cx="3337560" cy="841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30000"/>
              </a:lnSpc>
              <a:defRPr sz="1100">
                <a:solidFill>
                  <a:srgbClr val="3D3D5C"/>
                </a:solidFill>
              </a:defRPr>
            </a:lvl1pPr>
          </a:lstStyle>
          <a:p>
            <a:r>
              <a:t>Algorithmic leverage replaces human judgment bottlenecks with automated decision-making at scale. The goal: free humans for higher-order work, not replace them.</a:t>
            </a:r>
          </a:p>
        </p:txBody>
      </p:sp>
      <p:sp>
        <p:nvSpPr>
          <p:cNvPr id="211" name="Shape 14"/>
          <p:cNvSpPr/>
          <p:nvPr/>
        </p:nvSpPr>
        <p:spPr>
          <a:xfrm>
            <a:off x="4754879" y="1828800"/>
            <a:ext cx="3840481" cy="146304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12" name="Shape 15"/>
          <p:cNvSpPr/>
          <p:nvPr/>
        </p:nvSpPr>
        <p:spPr>
          <a:xfrm>
            <a:off x="4754879" y="1828800"/>
            <a:ext cx="45721" cy="1463041"/>
          </a:xfrm>
          <a:prstGeom prst="rect">
            <a:avLst/>
          </a:prstGeom>
          <a:solidFill>
            <a:srgbClr val="DC2626"/>
          </a:solidFill>
          <a:ln w="12700">
            <a:miter lim="400000"/>
          </a:ln>
        </p:spPr>
        <p:txBody>
          <a:bodyPr lIns="45719" rIns="45719"/>
          <a:lstStyle/>
          <a:p>
            <a:endParaRPr/>
          </a:p>
        </p:txBody>
      </p:sp>
      <p:sp>
        <p:nvSpPr>
          <p:cNvPr id="213" name="Text 16"/>
          <p:cNvSpPr txBox="1"/>
          <p:nvPr/>
        </p:nvSpPr>
        <p:spPr>
          <a:xfrm>
            <a:off x="5029200" y="1886239"/>
            <a:ext cx="2651761"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spc="200">
                <a:solidFill>
                  <a:srgbClr val="DC2626"/>
                </a:solidFill>
              </a:defRPr>
            </a:lvl1pPr>
          </a:lstStyle>
          <a:p>
            <a:r>
              <a:t>REAL-WORLD PROOF</a:t>
            </a:r>
          </a:p>
        </p:txBody>
      </p:sp>
      <p:sp>
        <p:nvSpPr>
          <p:cNvPr id="214" name="Text 17"/>
          <p:cNvSpPr txBox="1"/>
          <p:nvPr/>
        </p:nvSpPr>
        <p:spPr>
          <a:xfrm>
            <a:off x="5029200" y="2121407"/>
            <a:ext cx="3337560" cy="841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30000"/>
              </a:lnSpc>
              <a:defRPr sz="1100">
                <a:solidFill>
                  <a:srgbClr val="1A1A2E"/>
                </a:solidFill>
              </a:defRPr>
            </a:lvl1pPr>
          </a:lstStyle>
          <a:p>
            <a:r>
              <a:t>JP Morgan's COiN: AI reviews commercial credit agreements that required 360,000 hours of lawyer time per year — completed in seconds with 80% fewer compliance errors.</a:t>
            </a:r>
          </a:p>
        </p:txBody>
      </p:sp>
      <p:sp>
        <p:nvSpPr>
          <p:cNvPr id="215" name="Text 18"/>
          <p:cNvSpPr txBox="1"/>
          <p:nvPr/>
        </p:nvSpPr>
        <p:spPr>
          <a:xfrm>
            <a:off x="5029200" y="2974883"/>
            <a:ext cx="3337560" cy="323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i="1">
                <a:solidFill>
                  <a:srgbClr val="9CA3AF"/>
                </a:solidFill>
              </a:defRPr>
            </a:lvl1pPr>
          </a:lstStyle>
          <a:p>
            <a:r>
              <a:t>Bloomberg, Feb 28, 2017: "JPMorgan's Massive COIN Saves 360,000 Hours of Lawyer Work"</a:t>
            </a:r>
          </a:p>
        </p:txBody>
      </p:sp>
      <p:sp>
        <p:nvSpPr>
          <p:cNvPr id="216" name="Shape 19"/>
          <p:cNvSpPr/>
          <p:nvPr/>
        </p:nvSpPr>
        <p:spPr>
          <a:xfrm>
            <a:off x="548640" y="3520440"/>
            <a:ext cx="8046719" cy="1280161"/>
          </a:xfrm>
          <a:prstGeom prst="rect">
            <a:avLst/>
          </a:prstGeom>
          <a:solidFill>
            <a:srgbClr val="F0FDF4"/>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17" name="Shape 20"/>
          <p:cNvSpPr/>
          <p:nvPr/>
        </p:nvSpPr>
        <p:spPr>
          <a:xfrm>
            <a:off x="548640" y="3520440"/>
            <a:ext cx="45721" cy="1280161"/>
          </a:xfrm>
          <a:prstGeom prst="rect">
            <a:avLst/>
          </a:prstGeom>
          <a:solidFill>
            <a:srgbClr val="059669"/>
          </a:solidFill>
          <a:ln w="12700">
            <a:miter lim="400000"/>
          </a:ln>
        </p:spPr>
        <p:txBody>
          <a:bodyPr lIns="45719" rIns="45719"/>
          <a:lstStyle/>
          <a:p>
            <a:endParaRPr/>
          </a:p>
        </p:txBody>
      </p:sp>
      <p:pic>
        <p:nvPicPr>
          <p:cNvPr id="218" name="Image 1" descr="Image 1"/>
          <p:cNvPicPr>
            <a:picLocks noChangeAspect="1"/>
          </p:cNvPicPr>
          <p:nvPr/>
        </p:nvPicPr>
        <p:blipFill>
          <a:blip r:embed="rId3"/>
          <a:stretch>
            <a:fillRect/>
          </a:stretch>
        </p:blipFill>
        <p:spPr>
          <a:xfrm>
            <a:off x="777240" y="3593591"/>
            <a:ext cx="228601" cy="228601"/>
          </a:xfrm>
          <a:prstGeom prst="rect">
            <a:avLst/>
          </a:prstGeom>
          <a:ln w="12700">
            <a:miter lim="400000"/>
          </a:ln>
        </p:spPr>
      </p:pic>
      <p:sp>
        <p:nvSpPr>
          <p:cNvPr id="219" name="Text 21"/>
          <p:cNvSpPr txBox="1"/>
          <p:nvPr/>
        </p:nvSpPr>
        <p:spPr>
          <a:xfrm>
            <a:off x="1143000" y="3600362"/>
            <a:ext cx="4480560" cy="205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b="1" spc="100">
                <a:solidFill>
                  <a:srgbClr val="059669"/>
                </a:solidFill>
              </a:defRPr>
            </a:lvl1pPr>
          </a:lstStyle>
          <a:p>
            <a:r>
              <a:t>TRANSLATION PROMPT — Apply to YOUR Problem</a:t>
            </a:r>
          </a:p>
        </p:txBody>
      </p:sp>
      <p:sp>
        <p:nvSpPr>
          <p:cNvPr id="220" name="Text 22"/>
          <p:cNvSpPr txBox="1"/>
          <p:nvPr/>
        </p:nvSpPr>
        <p:spPr>
          <a:xfrm>
            <a:off x="822960" y="3886200"/>
            <a:ext cx="7498079" cy="485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30000"/>
              </a:lnSpc>
              <a:defRPr sz="1200">
                <a:solidFill>
                  <a:srgbClr val="1A1A2E"/>
                </a:solidFill>
              </a:defRPr>
            </a:pPr>
            <a:r>
              <a:rPr dirty="0"/>
              <a:t>Take your problem → Ask: "</a:t>
            </a:r>
            <a:r>
              <a:rPr b="1" dirty="0"/>
              <a:t>what unique ways / algorithm  / intelligence that I should build which will be difficult to replicate</a:t>
            </a:r>
            <a:r>
              <a:rPr dirty="0"/>
              <a:t>?" Identify top 3 and calculate its impact. “ </a:t>
            </a:r>
          </a:p>
        </p:txBody>
      </p:sp>
      <p:sp>
        <p:nvSpPr>
          <p:cNvPr id="221" name="Google Shape;149;p16"/>
          <p:cNvSpPr/>
          <p:nvPr/>
        </p:nvSpPr>
        <p:spPr>
          <a:xfrm>
            <a:off x="0" y="4900050"/>
            <a:ext cx="9144000" cy="243450"/>
          </a:xfrm>
          <a:prstGeom prst="rect">
            <a:avLst/>
          </a:prstGeom>
          <a:solidFill>
            <a:srgbClr val="16444F"/>
          </a:solidFill>
          <a:ln w="3175">
            <a:solidFill>
              <a:srgbClr val="1F497D"/>
            </a:solidFill>
          </a:ln>
        </p:spPr>
        <p:txBody>
          <a:bodyPr lIns="22859" tIns="22859" rIns="22859" bIns="22859" anchor="ctr"/>
          <a:lstStyle/>
          <a:p>
            <a:pPr algn="ctr" defTabSz="457200">
              <a:defRPr sz="700"/>
            </a:pPr>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hape 0"/>
          <p:cNvSpPr/>
          <p:nvPr/>
        </p:nvSpPr>
        <p:spPr>
          <a:xfrm>
            <a:off x="0" y="-1"/>
            <a:ext cx="9144000" cy="45722"/>
          </a:xfrm>
          <a:prstGeom prst="rect">
            <a:avLst/>
          </a:prstGeom>
          <a:solidFill>
            <a:srgbClr val="EA580C"/>
          </a:solidFill>
          <a:ln w="12700">
            <a:miter lim="400000"/>
          </a:ln>
        </p:spPr>
        <p:txBody>
          <a:bodyPr lIns="45719" rIns="45719"/>
          <a:lstStyle/>
          <a:p>
            <a:endParaRPr/>
          </a:p>
        </p:txBody>
      </p:sp>
      <p:sp>
        <p:nvSpPr>
          <p:cNvPr id="224" name="Text 1"/>
          <p:cNvSpPr txBox="1"/>
          <p:nvPr/>
        </p:nvSpPr>
        <p:spPr>
          <a:xfrm>
            <a:off x="502919" y="182924"/>
            <a:ext cx="1465747"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EA580C"/>
                </a:solidFill>
              </a:defRPr>
            </a:lvl1pPr>
          </a:lstStyle>
          <a:p>
            <a:r>
              <a:t>STEP 2 &amp;  3 </a:t>
            </a:r>
          </a:p>
        </p:txBody>
      </p:sp>
      <p:sp>
        <p:nvSpPr>
          <p:cNvPr id="225"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t>Lever 3 : Algorithmic Leverage</a:t>
            </a:r>
          </a:p>
        </p:txBody>
      </p:sp>
      <p:sp>
        <p:nvSpPr>
          <p:cNvPr id="226" name="Text 48"/>
          <p:cNvSpPr txBox="1"/>
          <p:nvPr/>
        </p:nvSpPr>
        <p:spPr>
          <a:xfrm>
            <a:off x="502919" y="1043511"/>
            <a:ext cx="7863841" cy="40364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1100" b="1">
                <a:solidFill>
                  <a:srgbClr val="1A1A2E"/>
                </a:solidFill>
              </a:defRPr>
            </a:pPr>
            <a:r>
              <a:rPr dirty="0"/>
              <a:t>Output of Lever 3 : </a:t>
            </a:r>
            <a:endParaRPr lang="en-IN" dirty="0"/>
          </a:p>
          <a:p>
            <a:pPr>
              <a:lnSpc>
                <a:spcPct val="115000"/>
              </a:lnSpc>
              <a:defRPr sz="1100" b="1">
                <a:solidFill>
                  <a:srgbClr val="1A1A2E"/>
                </a:solidFill>
              </a:defRPr>
            </a:pPr>
            <a:endParaRPr lang="en-IN" dirty="0"/>
          </a:p>
          <a:p>
            <a:r>
              <a:rPr lang="en-US" sz="1100" b="1" dirty="0"/>
              <a:t>Delivery Graph Intelligence</a:t>
            </a:r>
            <a:endParaRPr lang="en-US" sz="1100" dirty="0"/>
          </a:p>
          <a:p>
            <a:pPr lvl="1"/>
            <a:r>
              <a:rPr lang="en-US" sz="1100" dirty="0"/>
              <a:t>Builds a knowledge graph that links people, skills, dependencies, architecture decisions, risks, and outcomes across projects.</a:t>
            </a:r>
          </a:p>
          <a:p>
            <a:pPr lvl="1"/>
            <a:r>
              <a:rPr lang="en-US" sz="1100" dirty="0"/>
              <a:t>Hard to copy because it depends on long‑term, proprietary cross‑project relationships and feedback from real delivery outcomes.</a:t>
            </a:r>
          </a:p>
          <a:p>
            <a:pPr lvl="1"/>
            <a:r>
              <a:rPr lang="en-US" sz="1100" dirty="0"/>
              <a:t>Acts as the core intelligence layer for all other features (staffing, forecasting, risk, and communication).</a:t>
            </a:r>
          </a:p>
          <a:p>
            <a:r>
              <a:rPr lang="en-US" sz="1100" b="1" dirty="0"/>
              <a:t>Adaptive Resource‑Fit Optimizer</a:t>
            </a:r>
            <a:endParaRPr lang="en-US" sz="1100" dirty="0"/>
          </a:p>
          <a:p>
            <a:pPr lvl="1"/>
            <a:r>
              <a:rPr lang="en-US" sz="1100" dirty="0"/>
              <a:t>Matches work to people using not only skills and availability, but also past success on similar work, ramp‑up speed, and collaboration fit.</a:t>
            </a:r>
          </a:p>
          <a:p>
            <a:pPr lvl="1"/>
            <a:r>
              <a:rPr lang="en-US" sz="1100" dirty="0"/>
              <a:t>Moat comes from your accumulated staffing history, override behavior, and performance outcomes that a new player cannot replicate quickly.</a:t>
            </a:r>
          </a:p>
          <a:p>
            <a:pPr lvl="1"/>
            <a:r>
              <a:rPr lang="en-US" sz="1100" dirty="0"/>
              <a:t>Drives higher effective utilization and fewer wrong‑fit assignments.</a:t>
            </a:r>
          </a:p>
          <a:p>
            <a:r>
              <a:rPr lang="en-US" sz="1100" b="1" dirty="0"/>
              <a:t>Stakeholder Clarity &amp; Nudge Engine</a:t>
            </a:r>
            <a:endParaRPr lang="en-US" sz="1100" dirty="0"/>
          </a:p>
          <a:p>
            <a:pPr lvl="1"/>
            <a:r>
              <a:rPr lang="en-US" sz="1100" dirty="0"/>
              <a:t>Learns how PMs, architects, leaders, and “laymen” respond best to updates, nudges, and escalations.</a:t>
            </a:r>
          </a:p>
          <a:p>
            <a:pPr lvl="1"/>
            <a:r>
              <a:rPr lang="en-US" sz="1100" dirty="0"/>
              <a:t>Turns generic status into role‑specific, action‑driven messages, reducing confusion and approval delays.</a:t>
            </a:r>
          </a:p>
          <a:p>
            <a:pPr lvl="1"/>
            <a:r>
              <a:rPr lang="en-US" sz="1100" dirty="0"/>
              <a:t>Moat is in the feedback loop: how often people acknowledge, act, or ignore different message styles over time.</a:t>
            </a:r>
          </a:p>
          <a:p>
            <a:r>
              <a:rPr lang="en-US" sz="1100" b="1" dirty="0"/>
              <a:t>Impact method (simple multiplier)</a:t>
            </a:r>
            <a:endParaRPr lang="en-US" sz="1100" dirty="0"/>
          </a:p>
          <a:p>
            <a:pPr lvl="1"/>
            <a:r>
              <a:rPr lang="en-US" sz="1100" dirty="0"/>
              <a:t>Estimate baseline pain (e.g., 20% at‑risk schedule days, 30% resource‑fit loss, 25% decision‑latency drag).</a:t>
            </a:r>
          </a:p>
          <a:p>
            <a:pPr lvl="1"/>
            <a:r>
              <a:rPr lang="en-US" sz="1100" dirty="0"/>
              <a:t>Apply expected reduction from the engine (e.g., 25–40%).</a:t>
            </a:r>
          </a:p>
          <a:p>
            <a:pPr lvl="1"/>
            <a:r>
              <a:rPr lang="en-US" sz="1100" dirty="0"/>
              <a:t>Multiply: baseline × reduction ≈ net outcome improvement (e.g., 5% schedule‑risk reduction, 9% utilization gain, 10% faster decisions) Added to it a dashboard where stakeholders has access about each resource , project movement , impediments and </a:t>
            </a:r>
            <a:r>
              <a:rPr lang="en-US" sz="1100" dirty="0" err="1"/>
              <a:t>jira</a:t>
            </a:r>
            <a:r>
              <a:rPr lang="en-US" sz="1100" dirty="0"/>
              <a:t> struct story comparison.</a:t>
            </a:r>
          </a:p>
        </p:txBody>
      </p:sp>
      <p:sp>
        <p:nvSpPr>
          <p:cNvPr id="227"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228"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hape 0"/>
          <p:cNvSpPr/>
          <p:nvPr/>
        </p:nvSpPr>
        <p:spPr>
          <a:xfrm>
            <a:off x="0" y="-1"/>
            <a:ext cx="9144000" cy="45722"/>
          </a:xfrm>
          <a:prstGeom prst="rect">
            <a:avLst/>
          </a:prstGeom>
          <a:solidFill>
            <a:srgbClr val="0D9488"/>
          </a:solidFill>
          <a:ln w="12700">
            <a:miter lim="400000"/>
          </a:ln>
        </p:spPr>
        <p:txBody>
          <a:bodyPr lIns="45719" rIns="45719"/>
          <a:lstStyle/>
          <a:p>
            <a:endParaRPr/>
          </a:p>
        </p:txBody>
      </p:sp>
      <p:sp>
        <p:nvSpPr>
          <p:cNvPr id="231" name="Text 1"/>
          <p:cNvSpPr txBox="1"/>
          <p:nvPr/>
        </p:nvSpPr>
        <p:spPr>
          <a:xfrm>
            <a:off x="502919" y="123488"/>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0D9488"/>
                </a:solidFill>
              </a:defRPr>
            </a:lvl1pPr>
          </a:lstStyle>
          <a:p>
            <a:r>
              <a:t>STEP 4</a:t>
            </a:r>
          </a:p>
        </p:txBody>
      </p:sp>
      <p:sp>
        <p:nvSpPr>
          <p:cNvPr id="232" name="Text 2"/>
          <p:cNvSpPr txBox="1"/>
          <p:nvPr/>
        </p:nvSpPr>
        <p:spPr>
          <a:xfrm>
            <a:off x="502919" y="336042"/>
            <a:ext cx="8943021" cy="4343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400" b="1">
                <a:solidFill>
                  <a:srgbClr val="1A1A2E"/>
                </a:solidFill>
                <a:latin typeface="Georgia"/>
                <a:ea typeface="Georgia"/>
                <a:cs typeface="Georgia"/>
                <a:sym typeface="Georgia"/>
              </a:defRPr>
            </a:lvl1pPr>
          </a:lstStyle>
          <a:p>
            <a:r>
              <a:rPr dirty="0"/>
              <a:t>Optional: Rewrite in the Language of New Economics</a:t>
            </a:r>
          </a:p>
        </p:txBody>
      </p:sp>
      <p:sp>
        <p:nvSpPr>
          <p:cNvPr id="233" name="Shape 3"/>
          <p:cNvSpPr/>
          <p:nvPr/>
        </p:nvSpPr>
        <p:spPr>
          <a:xfrm>
            <a:off x="297178" y="1005839"/>
            <a:ext cx="3931922" cy="1463042"/>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34" name="Shape 4"/>
          <p:cNvSpPr/>
          <p:nvPr/>
        </p:nvSpPr>
        <p:spPr>
          <a:xfrm>
            <a:off x="365759" y="1005839"/>
            <a:ext cx="45721" cy="1463042"/>
          </a:xfrm>
          <a:prstGeom prst="rect">
            <a:avLst/>
          </a:prstGeom>
          <a:solidFill>
            <a:srgbClr val="DC2626"/>
          </a:solidFill>
          <a:ln w="12700">
            <a:miter lim="400000"/>
          </a:ln>
        </p:spPr>
        <p:txBody>
          <a:bodyPr lIns="45719" rIns="45719"/>
          <a:lstStyle/>
          <a:p>
            <a:endParaRPr/>
          </a:p>
        </p:txBody>
      </p:sp>
      <p:sp>
        <p:nvSpPr>
          <p:cNvPr id="235" name="Text 5"/>
          <p:cNvSpPr txBox="1"/>
          <p:nvPr/>
        </p:nvSpPr>
        <p:spPr>
          <a:xfrm>
            <a:off x="640079" y="1051560"/>
            <a:ext cx="3474720" cy="228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DC2626"/>
                </a:solidFill>
              </a:defRPr>
            </a:lvl1pPr>
          </a:lstStyle>
          <a:p>
            <a:r>
              <a:rPr dirty="0"/>
              <a:t>OLD ECONOMICS</a:t>
            </a:r>
          </a:p>
        </p:txBody>
      </p:sp>
      <p:sp>
        <p:nvSpPr>
          <p:cNvPr id="236" name="Text 6"/>
          <p:cNvSpPr txBox="1"/>
          <p:nvPr/>
        </p:nvSpPr>
        <p:spPr>
          <a:xfrm>
            <a:off x="640079" y="1325880"/>
            <a:ext cx="3474720" cy="9539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20000"/>
              </a:lnSpc>
              <a:defRPr sz="1400" b="1">
                <a:solidFill>
                  <a:srgbClr val="1A1A2E"/>
                </a:solidFill>
              </a:defRPr>
            </a:pPr>
            <a:r>
              <a:rPr dirty="0"/>
              <a:t>Labor + Capital → Output</a:t>
            </a:r>
          </a:p>
          <a:p>
            <a:pPr>
              <a:lnSpc>
                <a:spcPct val="120000"/>
              </a:lnSpc>
              <a:defRPr sz="1400" b="1">
                <a:solidFill>
                  <a:srgbClr val="1A1A2E"/>
                </a:solidFill>
              </a:defRPr>
            </a:pPr>
            <a:endParaRPr dirty="0"/>
          </a:p>
          <a:p>
            <a:pPr>
              <a:lnSpc>
                <a:spcPct val="120000"/>
              </a:lnSpc>
              <a:defRPr sz="1400" b="1">
                <a:solidFill>
                  <a:srgbClr val="1A1A2E"/>
                </a:solidFill>
              </a:defRPr>
            </a:pPr>
            <a:r>
              <a:rPr sz="1000" b="0" dirty="0">
                <a:solidFill>
                  <a:srgbClr val="3D3D5C"/>
                </a:solidFill>
              </a:rPr>
              <a:t>Linear. Additive. Each unit costs the same.</a:t>
            </a:r>
          </a:p>
          <a:p>
            <a:pPr>
              <a:lnSpc>
                <a:spcPct val="120000"/>
              </a:lnSpc>
              <a:defRPr sz="1000">
                <a:solidFill>
                  <a:srgbClr val="3D3D5C"/>
                </a:solidFill>
              </a:defRPr>
            </a:pPr>
            <a:r>
              <a:rPr dirty="0"/>
              <a:t>More output = more people = more cost.</a:t>
            </a:r>
          </a:p>
        </p:txBody>
      </p:sp>
      <p:sp>
        <p:nvSpPr>
          <p:cNvPr id="237" name="Text 7"/>
          <p:cNvSpPr txBox="1"/>
          <p:nvPr/>
        </p:nvSpPr>
        <p:spPr>
          <a:xfrm>
            <a:off x="4343400" y="1480943"/>
            <a:ext cx="457200" cy="4213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2400">
                <a:solidFill>
                  <a:srgbClr val="D97706"/>
                </a:solidFill>
                <a:latin typeface="Georgia"/>
                <a:ea typeface="Georgia"/>
                <a:cs typeface="Georgia"/>
                <a:sym typeface="Georgia"/>
              </a:defRPr>
            </a:lvl1pPr>
          </a:lstStyle>
          <a:p>
            <a:r>
              <a:t>→</a:t>
            </a:r>
          </a:p>
        </p:txBody>
      </p:sp>
      <p:sp>
        <p:nvSpPr>
          <p:cNvPr id="238" name="Shape 8"/>
          <p:cNvSpPr/>
          <p:nvPr/>
        </p:nvSpPr>
        <p:spPr>
          <a:xfrm>
            <a:off x="4846320" y="1005839"/>
            <a:ext cx="3931921" cy="1463042"/>
          </a:xfrm>
          <a:prstGeom prst="rect">
            <a:avLst/>
          </a:prstGeom>
          <a:solidFill>
            <a:srgbClr val="F0FDF4"/>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39" name="Shape 9"/>
          <p:cNvSpPr/>
          <p:nvPr/>
        </p:nvSpPr>
        <p:spPr>
          <a:xfrm>
            <a:off x="4846320" y="1005839"/>
            <a:ext cx="45721" cy="1463042"/>
          </a:xfrm>
          <a:prstGeom prst="rect">
            <a:avLst/>
          </a:prstGeom>
          <a:solidFill>
            <a:srgbClr val="059669"/>
          </a:solidFill>
          <a:ln w="12700">
            <a:miter lim="400000"/>
          </a:ln>
        </p:spPr>
        <p:txBody>
          <a:bodyPr lIns="45719" rIns="45719"/>
          <a:lstStyle/>
          <a:p>
            <a:endParaRPr/>
          </a:p>
        </p:txBody>
      </p:sp>
      <p:sp>
        <p:nvSpPr>
          <p:cNvPr id="240" name="Text 10"/>
          <p:cNvSpPr txBox="1"/>
          <p:nvPr/>
        </p:nvSpPr>
        <p:spPr>
          <a:xfrm>
            <a:off x="5120640" y="1051560"/>
            <a:ext cx="3474720" cy="228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059669"/>
                </a:solidFill>
              </a:defRPr>
            </a:lvl1pPr>
          </a:lstStyle>
          <a:p>
            <a:r>
              <a:t>NEW ECONOMICS</a:t>
            </a:r>
          </a:p>
        </p:txBody>
      </p:sp>
      <p:sp>
        <p:nvSpPr>
          <p:cNvPr id="241" name="Text 11"/>
          <p:cNvSpPr txBox="1"/>
          <p:nvPr/>
        </p:nvSpPr>
        <p:spPr>
          <a:xfrm>
            <a:off x="5120640" y="1325880"/>
            <a:ext cx="3474720" cy="9539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20000"/>
              </a:lnSpc>
              <a:defRPr sz="1400" b="1">
                <a:solidFill>
                  <a:srgbClr val="1A1A2E"/>
                </a:solidFill>
              </a:defRPr>
            </a:pPr>
            <a:r>
              <a:rPr dirty="0"/>
              <a:t>(Data × Algorithms) ^ Network Effects</a:t>
            </a:r>
          </a:p>
          <a:p>
            <a:pPr>
              <a:lnSpc>
                <a:spcPct val="120000"/>
              </a:lnSpc>
              <a:defRPr sz="1400" b="1">
                <a:solidFill>
                  <a:srgbClr val="1A1A2E"/>
                </a:solidFill>
              </a:defRPr>
            </a:pPr>
            <a:endParaRPr dirty="0"/>
          </a:p>
          <a:p>
            <a:pPr>
              <a:lnSpc>
                <a:spcPct val="120000"/>
              </a:lnSpc>
              <a:defRPr sz="1400" b="1">
                <a:solidFill>
                  <a:srgbClr val="1A1A2E"/>
                </a:solidFill>
              </a:defRPr>
            </a:pPr>
            <a:r>
              <a:rPr sz="1000" b="0" dirty="0">
                <a:solidFill>
                  <a:srgbClr val="3D3D5C"/>
                </a:solidFill>
              </a:rPr>
              <a:t>Exponential. Compounding. Each user makes</a:t>
            </a:r>
          </a:p>
          <a:p>
            <a:pPr>
              <a:lnSpc>
                <a:spcPct val="120000"/>
              </a:lnSpc>
              <a:defRPr sz="1000">
                <a:solidFill>
                  <a:srgbClr val="3D3D5C"/>
                </a:solidFill>
              </a:defRPr>
            </a:pPr>
            <a:r>
              <a:rPr dirty="0"/>
              <a:t>it better for all. The flywheel accelerates.</a:t>
            </a:r>
          </a:p>
        </p:txBody>
      </p:sp>
      <p:sp>
        <p:nvSpPr>
          <p:cNvPr id="242" name="Shape 12"/>
          <p:cNvSpPr/>
          <p:nvPr/>
        </p:nvSpPr>
        <p:spPr>
          <a:xfrm>
            <a:off x="365759" y="2697479"/>
            <a:ext cx="8412482" cy="1920241"/>
          </a:xfrm>
          <a:prstGeom prst="rect">
            <a:avLst/>
          </a:prstGeom>
          <a:solidFill>
            <a:srgbClr val="FFFBEB"/>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43" name="Shape 13"/>
          <p:cNvSpPr/>
          <p:nvPr/>
        </p:nvSpPr>
        <p:spPr>
          <a:xfrm>
            <a:off x="365759" y="2697479"/>
            <a:ext cx="45721" cy="1920241"/>
          </a:xfrm>
          <a:prstGeom prst="rect">
            <a:avLst/>
          </a:prstGeom>
          <a:solidFill>
            <a:srgbClr val="D97706"/>
          </a:solidFill>
          <a:ln w="12700">
            <a:miter lim="400000"/>
          </a:ln>
        </p:spPr>
        <p:txBody>
          <a:bodyPr lIns="45719" rIns="45719"/>
          <a:lstStyle/>
          <a:p>
            <a:endParaRPr/>
          </a:p>
        </p:txBody>
      </p:sp>
      <p:sp>
        <p:nvSpPr>
          <p:cNvPr id="244" name="Text 14"/>
          <p:cNvSpPr txBox="1"/>
          <p:nvPr/>
        </p:nvSpPr>
        <p:spPr>
          <a:xfrm>
            <a:off x="640079" y="2743200"/>
            <a:ext cx="2651762" cy="2285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D97706"/>
                </a:solidFill>
              </a:defRPr>
            </a:lvl1pPr>
          </a:lstStyle>
          <a:p>
            <a:r>
              <a:t>EXAMPLE REWRITE</a:t>
            </a:r>
          </a:p>
        </p:txBody>
      </p:sp>
      <p:sp>
        <p:nvSpPr>
          <p:cNvPr id="245" name="Text 15"/>
          <p:cNvSpPr txBox="1"/>
          <p:nvPr/>
        </p:nvSpPr>
        <p:spPr>
          <a:xfrm>
            <a:off x="640079" y="3017520"/>
            <a:ext cx="7863841" cy="1764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20000"/>
              </a:lnSpc>
              <a:defRPr sz="1100" b="1">
                <a:solidFill>
                  <a:srgbClr val="DC2626"/>
                </a:solidFill>
              </a:defRPr>
            </a:pPr>
            <a:r>
              <a:t>Original (Old Economics):</a:t>
            </a:r>
          </a:p>
          <a:p>
            <a:pPr>
              <a:lnSpc>
                <a:spcPct val="120000"/>
              </a:lnSpc>
              <a:defRPr sz="1100" b="1">
                <a:solidFill>
                  <a:srgbClr val="DC2626"/>
                </a:solidFill>
              </a:defRPr>
            </a:pPr>
            <a:r>
              <a:rPr b="0" i="1">
                <a:solidFill>
                  <a:srgbClr val="3D3D5C"/>
                </a:solidFill>
              </a:rPr>
              <a:t>"We need to reduce customer churn by improving support response times."</a:t>
            </a:r>
          </a:p>
          <a:p>
            <a:pPr>
              <a:lnSpc>
                <a:spcPct val="120000"/>
              </a:lnSpc>
              <a:defRPr sz="1100" b="1">
                <a:solidFill>
                  <a:srgbClr val="DC2626"/>
                </a:solidFill>
              </a:defRPr>
            </a:pPr>
            <a:endParaRPr b="0" i="1">
              <a:solidFill>
                <a:srgbClr val="3D3D5C"/>
              </a:solidFill>
            </a:endParaRPr>
          </a:p>
          <a:p>
            <a:pPr>
              <a:lnSpc>
                <a:spcPct val="120000"/>
              </a:lnSpc>
              <a:defRPr sz="1100" b="1">
                <a:solidFill>
                  <a:srgbClr val="DC2626"/>
                </a:solidFill>
              </a:defRPr>
            </a:pPr>
            <a:r>
              <a:rPr>
                <a:solidFill>
                  <a:srgbClr val="059669"/>
                </a:solidFill>
              </a:rPr>
              <a:t>Rewritten (New Economics):</a:t>
            </a:r>
          </a:p>
          <a:p>
            <a:pPr>
              <a:lnSpc>
                <a:spcPct val="120000"/>
              </a:lnSpc>
              <a:defRPr sz="1100" b="1">
                <a:solidFill>
                  <a:srgbClr val="DC2626"/>
                </a:solidFill>
              </a:defRPr>
            </a:pPr>
            <a:r>
              <a:rPr b="0" i="1">
                <a:solidFill>
                  <a:srgbClr val="3D3D5C"/>
                </a:solidFill>
              </a:rPr>
              <a:t>"Every customer interaction generates behavioral signals that compound into a predictive model — making retention automatic for all customers, not a manual effort per customer."</a:t>
            </a:r>
          </a:p>
          <a:p>
            <a:pPr>
              <a:lnSpc>
                <a:spcPct val="120000"/>
              </a:lnSpc>
              <a:defRPr sz="1100" b="1">
                <a:solidFill>
                  <a:srgbClr val="DC2626"/>
                </a:solidFill>
              </a:defRPr>
            </a:pPr>
            <a:endParaRPr b="0" i="1">
              <a:solidFill>
                <a:srgbClr val="3D3D5C"/>
              </a:solidFill>
            </a:endParaRPr>
          </a:p>
          <a:p>
            <a:pPr>
              <a:lnSpc>
                <a:spcPct val="120000"/>
              </a:lnSpc>
              <a:defRPr sz="1100" b="1">
                <a:solidFill>
                  <a:srgbClr val="DC2626"/>
                </a:solidFill>
              </a:defRPr>
            </a:pPr>
            <a:r>
              <a:rPr sz="1000">
                <a:solidFill>
                  <a:srgbClr val="D97706"/>
                </a:solidFill>
              </a:rPr>
              <a:t>What changed: </a:t>
            </a:r>
            <a:r>
              <a:rPr sz="1000" b="0">
                <a:solidFill>
                  <a:srgbClr val="3D3D5C"/>
                </a:solidFill>
              </a:rPr>
              <a:t>From labor-intensive (hire more agents) → data-driven (model learns). From per-customer cost → zero marginal cost. From reactive → predictive.</a:t>
            </a:r>
          </a:p>
        </p:txBody>
      </p:sp>
      <p:sp>
        <p:nvSpPr>
          <p:cNvPr id="246" name="Optional"/>
          <p:cNvSpPr txBox="1"/>
          <p:nvPr/>
        </p:nvSpPr>
        <p:spPr>
          <a:xfrm rot="768353">
            <a:off x="3087169" y="2501694"/>
            <a:ext cx="2543062" cy="7386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5000" b="1"/>
            </a:lvl1pPr>
          </a:lstStyle>
          <a:p>
            <a:r>
              <a:rPr dirty="0"/>
              <a:t>Optional </a:t>
            </a:r>
          </a:p>
        </p:txBody>
      </p:sp>
      <p:sp>
        <p:nvSpPr>
          <p:cNvPr id="247"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248"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Shape 0"/>
          <p:cNvSpPr/>
          <p:nvPr/>
        </p:nvSpPr>
        <p:spPr>
          <a:xfrm>
            <a:off x="0" y="-1"/>
            <a:ext cx="9144000" cy="45722"/>
          </a:xfrm>
          <a:prstGeom prst="rect">
            <a:avLst/>
          </a:prstGeom>
          <a:solidFill>
            <a:srgbClr val="0D9488"/>
          </a:solidFill>
          <a:ln w="12700">
            <a:miter lim="400000"/>
          </a:ln>
        </p:spPr>
        <p:txBody>
          <a:bodyPr lIns="45719" rIns="45719"/>
          <a:lstStyle/>
          <a:p>
            <a:endParaRPr/>
          </a:p>
        </p:txBody>
      </p:sp>
      <p:sp>
        <p:nvSpPr>
          <p:cNvPr id="251" name="Text 1"/>
          <p:cNvSpPr txBox="1"/>
          <p:nvPr/>
        </p:nvSpPr>
        <p:spPr>
          <a:xfrm>
            <a:off x="502919" y="123488"/>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0D9488"/>
                </a:solidFill>
              </a:defRPr>
            </a:lvl1pPr>
          </a:lstStyle>
          <a:p>
            <a:r>
              <a:t>STEP 4</a:t>
            </a:r>
          </a:p>
        </p:txBody>
      </p:sp>
      <p:sp>
        <p:nvSpPr>
          <p:cNvPr id="252" name="Text 2"/>
          <p:cNvSpPr txBox="1"/>
          <p:nvPr/>
        </p:nvSpPr>
        <p:spPr>
          <a:xfrm>
            <a:off x="502919" y="336042"/>
            <a:ext cx="8943021" cy="4343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400" b="1">
                <a:solidFill>
                  <a:srgbClr val="1A1A2E"/>
                </a:solidFill>
                <a:latin typeface="Georgia"/>
                <a:ea typeface="Georgia"/>
                <a:cs typeface="Georgia"/>
                <a:sym typeface="Georgia"/>
              </a:defRPr>
            </a:lvl1pPr>
          </a:lstStyle>
          <a:p>
            <a:r>
              <a:t>Optional: Rewrite in the Language of New Economics</a:t>
            </a:r>
          </a:p>
        </p:txBody>
      </p:sp>
      <p:sp>
        <p:nvSpPr>
          <p:cNvPr id="253" name="Text 48"/>
          <p:cNvSpPr txBox="1"/>
          <p:nvPr/>
        </p:nvSpPr>
        <p:spPr>
          <a:xfrm>
            <a:off x="510744" y="1139471"/>
            <a:ext cx="7863841" cy="41312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1100" b="1">
                <a:solidFill>
                  <a:srgbClr val="1A1A2E"/>
                </a:solidFill>
              </a:defRPr>
            </a:pPr>
            <a:r>
              <a:rPr dirty="0"/>
              <a:t>Output of Language of new economics </a:t>
            </a:r>
          </a:p>
          <a:p>
            <a:pPr>
              <a:lnSpc>
                <a:spcPct val="115000"/>
              </a:lnSpc>
              <a:defRPr sz="1100" b="1">
                <a:solidFill>
                  <a:srgbClr val="1A1A2E"/>
                </a:solidFill>
              </a:defRPr>
            </a:pPr>
            <a:endParaRPr dirty="0"/>
          </a:p>
          <a:p>
            <a:pPr lvl="1"/>
            <a:r>
              <a:rPr lang="en-US" dirty="0"/>
              <a:t>At 10 users it is a basic AI‑assisted tool;</a:t>
            </a:r>
          </a:p>
          <a:p>
            <a:pPr lvl="1"/>
            <a:r>
              <a:rPr lang="en-US" dirty="0"/>
              <a:t>At 1,000 users it becomes a </a:t>
            </a:r>
            <a:r>
              <a:rPr lang="en-US" b="1" dirty="0"/>
              <a:t>self‑improving delivery intelligence layer</a:t>
            </a:r>
            <a:r>
              <a:rPr lang="en-US" dirty="0"/>
              <a:t> that continuously learns from project patterns, staffing, and stakeholder communication.</a:t>
            </a:r>
          </a:p>
          <a:p>
            <a:pPr lvl="1"/>
            <a:endParaRPr lang="en-US" dirty="0"/>
          </a:p>
          <a:p>
            <a:r>
              <a:rPr lang="en-US" b="1" dirty="0"/>
              <a:t>The flywheel:</a:t>
            </a:r>
            <a:br>
              <a:rPr lang="en-US" dirty="0"/>
            </a:br>
            <a:r>
              <a:rPr lang="en-US" dirty="0"/>
              <a:t>Projects → more data → better algorithms → better decisions → more users → more data → even better algorithms → better projects, turning project delivery into an exponential rather than a linear game.</a:t>
            </a:r>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a:p>
            <a:pPr>
              <a:lnSpc>
                <a:spcPct val="115000"/>
              </a:lnSpc>
              <a:defRPr sz="1100" b="1">
                <a:solidFill>
                  <a:srgbClr val="1A1A2E"/>
                </a:solidFill>
              </a:defRPr>
            </a:pPr>
            <a:endParaRPr dirty="0"/>
          </a:p>
        </p:txBody>
      </p:sp>
      <p:sp>
        <p:nvSpPr>
          <p:cNvPr id="255"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256"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Shape 0"/>
          <p:cNvSpPr/>
          <p:nvPr/>
        </p:nvSpPr>
        <p:spPr>
          <a:xfrm>
            <a:off x="0" y="-1"/>
            <a:ext cx="9144000" cy="45722"/>
          </a:xfrm>
          <a:prstGeom prst="rect">
            <a:avLst/>
          </a:prstGeom>
          <a:solidFill>
            <a:srgbClr val="2563EB"/>
          </a:solidFill>
          <a:ln w="12700">
            <a:miter lim="400000"/>
          </a:ln>
        </p:spPr>
        <p:txBody>
          <a:bodyPr lIns="45719" rIns="45719"/>
          <a:lstStyle/>
          <a:p>
            <a:endParaRPr/>
          </a:p>
        </p:txBody>
      </p:sp>
      <p:sp>
        <p:nvSpPr>
          <p:cNvPr id="259" name="Text 1"/>
          <p:cNvSpPr txBox="1"/>
          <p:nvPr/>
        </p:nvSpPr>
        <p:spPr>
          <a:xfrm>
            <a:off x="502919" y="182879"/>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2563EB"/>
                </a:solidFill>
              </a:defRPr>
            </a:lvl1pPr>
          </a:lstStyle>
          <a:p>
            <a:r>
              <a:t>STEP 5</a:t>
            </a:r>
          </a:p>
        </p:txBody>
      </p:sp>
      <p:sp>
        <p:nvSpPr>
          <p:cNvPr id="260"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t>Optional: Define YOUR Economic Equation</a:t>
            </a:r>
          </a:p>
        </p:txBody>
      </p:sp>
      <p:sp>
        <p:nvSpPr>
          <p:cNvPr id="261" name="Shape 3"/>
          <p:cNvSpPr/>
          <p:nvPr/>
        </p:nvSpPr>
        <p:spPr>
          <a:xfrm>
            <a:off x="365759" y="1005839"/>
            <a:ext cx="8412482" cy="640081"/>
          </a:xfrm>
          <a:prstGeom prst="rect">
            <a:avLst/>
          </a:prstGeom>
          <a:solidFill>
            <a:srgbClr val="EFF6FF"/>
          </a:solidFill>
          <a:ln w="12700">
            <a:miter lim="400000"/>
          </a:ln>
        </p:spPr>
        <p:txBody>
          <a:bodyPr lIns="45719" rIns="45719"/>
          <a:lstStyle/>
          <a:p>
            <a:endParaRPr/>
          </a:p>
        </p:txBody>
      </p:sp>
      <p:sp>
        <p:nvSpPr>
          <p:cNvPr id="262" name="Text 4"/>
          <p:cNvSpPr txBox="1"/>
          <p:nvPr/>
        </p:nvSpPr>
        <p:spPr>
          <a:xfrm>
            <a:off x="594360" y="1038859"/>
            <a:ext cx="7955279" cy="574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600" b="1">
                <a:solidFill>
                  <a:srgbClr val="2563EB"/>
                </a:solidFill>
                <a:latin typeface="Georgia"/>
                <a:ea typeface="Georgia"/>
                <a:cs typeface="Georgia"/>
                <a:sym typeface="Georgia"/>
              </a:defRPr>
            </a:lvl1pPr>
          </a:lstStyle>
          <a:p>
            <a:r>
              <a:rPr dirty="0"/>
              <a:t>( YOUR Data  ×  YOUR Algorithms )  ^  YOUR Network Effects  =  YOUR New Economics</a:t>
            </a:r>
          </a:p>
        </p:txBody>
      </p:sp>
      <p:sp>
        <p:nvSpPr>
          <p:cNvPr id="263" name="Shape 5"/>
          <p:cNvSpPr/>
          <p:nvPr/>
        </p:nvSpPr>
        <p:spPr>
          <a:xfrm>
            <a:off x="365759" y="1828800"/>
            <a:ext cx="2651762" cy="237744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64" name="Shape 6"/>
          <p:cNvSpPr/>
          <p:nvPr/>
        </p:nvSpPr>
        <p:spPr>
          <a:xfrm>
            <a:off x="365759" y="1828800"/>
            <a:ext cx="2651762" cy="45721"/>
          </a:xfrm>
          <a:prstGeom prst="rect">
            <a:avLst/>
          </a:prstGeom>
          <a:solidFill>
            <a:srgbClr val="2563EB"/>
          </a:solidFill>
          <a:ln w="12700">
            <a:miter lim="400000"/>
          </a:ln>
        </p:spPr>
        <p:txBody>
          <a:bodyPr lIns="45719" rIns="45719"/>
          <a:lstStyle/>
          <a:p>
            <a:endParaRPr/>
          </a:p>
        </p:txBody>
      </p:sp>
      <p:sp>
        <p:nvSpPr>
          <p:cNvPr id="265" name="Text 7"/>
          <p:cNvSpPr txBox="1"/>
          <p:nvPr/>
        </p:nvSpPr>
        <p:spPr>
          <a:xfrm>
            <a:off x="502919" y="1899919"/>
            <a:ext cx="2377442"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2563EB"/>
                </a:solidFill>
                <a:latin typeface="Georgia"/>
                <a:ea typeface="Georgia"/>
                <a:cs typeface="Georgia"/>
                <a:sym typeface="Georgia"/>
              </a:defRPr>
            </a:lvl1pPr>
          </a:lstStyle>
          <a:p>
            <a:r>
              <a:t>YOUR Data</a:t>
            </a:r>
          </a:p>
        </p:txBody>
      </p:sp>
      <p:sp>
        <p:nvSpPr>
          <p:cNvPr id="266" name="Text 8"/>
          <p:cNvSpPr txBox="1"/>
          <p:nvPr/>
        </p:nvSpPr>
        <p:spPr>
          <a:xfrm>
            <a:off x="502919" y="2233335"/>
            <a:ext cx="2377442"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3D3D5C"/>
                </a:solidFill>
              </a:defRPr>
            </a:lvl1pPr>
          </a:lstStyle>
          <a:p>
            <a:r>
              <a:t>What specific data does your problem generate?</a:t>
            </a:r>
          </a:p>
        </p:txBody>
      </p:sp>
      <p:sp>
        <p:nvSpPr>
          <p:cNvPr id="267" name="Text 9"/>
          <p:cNvSpPr txBox="1"/>
          <p:nvPr/>
        </p:nvSpPr>
        <p:spPr>
          <a:xfrm>
            <a:off x="502919" y="2542032"/>
            <a:ext cx="2377442" cy="7632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800" b="1">
                <a:solidFill>
                  <a:srgbClr val="DC2626"/>
                </a:solidFill>
              </a:defRPr>
            </a:pPr>
            <a:r>
              <a:rPr dirty="0"/>
              <a:t>❌ Too vague: </a:t>
            </a:r>
            <a:r>
              <a:rPr b="0" dirty="0">
                <a:solidFill>
                  <a:srgbClr val="6B7280"/>
                </a:solidFill>
              </a:rPr>
              <a:t>"Customer data"</a:t>
            </a:r>
          </a:p>
          <a:p>
            <a:pPr>
              <a:lnSpc>
                <a:spcPct val="115000"/>
              </a:lnSpc>
              <a:defRPr sz="800" b="1">
                <a:solidFill>
                  <a:srgbClr val="DC2626"/>
                </a:solidFill>
              </a:defRPr>
            </a:pPr>
            <a:endParaRPr b="0" dirty="0">
              <a:solidFill>
                <a:srgbClr val="6B7280"/>
              </a:solidFill>
            </a:endParaRPr>
          </a:p>
          <a:p>
            <a:pPr>
              <a:lnSpc>
                <a:spcPct val="115000"/>
              </a:lnSpc>
              <a:defRPr sz="800" b="1">
                <a:solidFill>
                  <a:srgbClr val="DC2626"/>
                </a:solidFill>
              </a:defRPr>
            </a:pPr>
            <a:r>
              <a:rPr dirty="0">
                <a:solidFill>
                  <a:srgbClr val="059669"/>
                </a:solidFill>
              </a:rPr>
              <a:t>✅ Specific: </a:t>
            </a:r>
            <a:r>
              <a:rPr b="0" dirty="0">
                <a:solidFill>
                  <a:srgbClr val="3D3D5C"/>
                </a:solidFill>
              </a:rPr>
              <a:t>"Real-time behavioral signals from every interaction showing intent, friction, satisfaction"</a:t>
            </a:r>
          </a:p>
        </p:txBody>
      </p:sp>
      <p:sp>
        <p:nvSpPr>
          <p:cNvPr id="268" name="Shape 10"/>
          <p:cNvSpPr/>
          <p:nvPr/>
        </p:nvSpPr>
        <p:spPr>
          <a:xfrm>
            <a:off x="3200400" y="1828800"/>
            <a:ext cx="2651761" cy="237744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69" name="Shape 11"/>
          <p:cNvSpPr/>
          <p:nvPr/>
        </p:nvSpPr>
        <p:spPr>
          <a:xfrm>
            <a:off x="3200400" y="1828800"/>
            <a:ext cx="2651761" cy="45721"/>
          </a:xfrm>
          <a:prstGeom prst="rect">
            <a:avLst/>
          </a:prstGeom>
          <a:solidFill>
            <a:srgbClr val="7C3AED"/>
          </a:solidFill>
          <a:ln w="12700">
            <a:miter lim="400000"/>
          </a:ln>
        </p:spPr>
        <p:txBody>
          <a:bodyPr lIns="45719" rIns="45719"/>
          <a:lstStyle/>
          <a:p>
            <a:endParaRPr/>
          </a:p>
        </p:txBody>
      </p:sp>
      <p:sp>
        <p:nvSpPr>
          <p:cNvPr id="270" name="Text 12"/>
          <p:cNvSpPr txBox="1"/>
          <p:nvPr/>
        </p:nvSpPr>
        <p:spPr>
          <a:xfrm>
            <a:off x="3337560" y="1899919"/>
            <a:ext cx="237744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7C3AED"/>
                </a:solidFill>
                <a:latin typeface="Georgia"/>
                <a:ea typeface="Georgia"/>
                <a:cs typeface="Georgia"/>
                <a:sym typeface="Georgia"/>
              </a:defRPr>
            </a:lvl1pPr>
          </a:lstStyle>
          <a:p>
            <a:r>
              <a:t>YOUR Algorithms</a:t>
            </a:r>
          </a:p>
        </p:txBody>
      </p:sp>
      <p:sp>
        <p:nvSpPr>
          <p:cNvPr id="271" name="Text 13"/>
          <p:cNvSpPr txBox="1"/>
          <p:nvPr/>
        </p:nvSpPr>
        <p:spPr>
          <a:xfrm>
            <a:off x="3337560" y="2233335"/>
            <a:ext cx="2377441" cy="205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3D3D5C"/>
                </a:solidFill>
              </a:defRPr>
            </a:lvl1pPr>
          </a:lstStyle>
          <a:p>
            <a:r>
              <a:t>What algorithms multiply the data's value?</a:t>
            </a:r>
          </a:p>
        </p:txBody>
      </p:sp>
      <p:sp>
        <p:nvSpPr>
          <p:cNvPr id="272" name="Text 14"/>
          <p:cNvSpPr txBox="1"/>
          <p:nvPr/>
        </p:nvSpPr>
        <p:spPr>
          <a:xfrm>
            <a:off x="3337560" y="2542032"/>
            <a:ext cx="2377441" cy="7632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800" b="1">
                <a:solidFill>
                  <a:srgbClr val="DC2626"/>
                </a:solidFill>
              </a:defRPr>
            </a:pPr>
            <a:r>
              <a:t>❌ Too vague: </a:t>
            </a:r>
            <a:r>
              <a:rPr b="0">
                <a:solidFill>
                  <a:srgbClr val="6B7280"/>
                </a:solidFill>
              </a:rPr>
              <a:t>"AI models"</a:t>
            </a:r>
          </a:p>
          <a:p>
            <a:pPr>
              <a:lnSpc>
                <a:spcPct val="115000"/>
              </a:lnSpc>
              <a:defRPr sz="800" b="1">
                <a:solidFill>
                  <a:srgbClr val="DC2626"/>
                </a:solidFill>
              </a:defRPr>
            </a:pPr>
            <a:endParaRPr b="0">
              <a:solidFill>
                <a:srgbClr val="6B7280"/>
              </a:solidFill>
            </a:endParaRPr>
          </a:p>
          <a:p>
            <a:pPr>
              <a:lnSpc>
                <a:spcPct val="115000"/>
              </a:lnSpc>
              <a:defRPr sz="800" b="1">
                <a:solidFill>
                  <a:srgbClr val="DC2626"/>
                </a:solidFill>
              </a:defRPr>
            </a:pPr>
            <a:r>
              <a:rPr>
                <a:solidFill>
                  <a:srgbClr val="059669"/>
                </a:solidFill>
              </a:rPr>
              <a:t>✅ Specific: </a:t>
            </a:r>
            <a:r>
              <a:rPr b="0">
                <a:solidFill>
                  <a:srgbClr val="3D3D5C"/>
                </a:solidFill>
              </a:rPr>
              <a:t>"Predictive churn model that encodes senior agent intuition about at-risk patterns"</a:t>
            </a:r>
          </a:p>
        </p:txBody>
      </p:sp>
      <p:sp>
        <p:nvSpPr>
          <p:cNvPr id="273" name="Shape 15"/>
          <p:cNvSpPr/>
          <p:nvPr/>
        </p:nvSpPr>
        <p:spPr>
          <a:xfrm>
            <a:off x="6035040" y="1828800"/>
            <a:ext cx="2651761" cy="2377440"/>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74" name="Shape 16"/>
          <p:cNvSpPr/>
          <p:nvPr/>
        </p:nvSpPr>
        <p:spPr>
          <a:xfrm>
            <a:off x="6035040" y="1828800"/>
            <a:ext cx="2651761" cy="45721"/>
          </a:xfrm>
          <a:prstGeom prst="rect">
            <a:avLst/>
          </a:prstGeom>
          <a:solidFill>
            <a:srgbClr val="059669"/>
          </a:solidFill>
          <a:ln w="12700">
            <a:miter lim="400000"/>
          </a:ln>
        </p:spPr>
        <p:txBody>
          <a:bodyPr lIns="45719" rIns="45719"/>
          <a:lstStyle/>
          <a:p>
            <a:endParaRPr/>
          </a:p>
        </p:txBody>
      </p:sp>
      <p:sp>
        <p:nvSpPr>
          <p:cNvPr id="275" name="Text 17"/>
          <p:cNvSpPr txBox="1"/>
          <p:nvPr/>
        </p:nvSpPr>
        <p:spPr>
          <a:xfrm>
            <a:off x="6172200" y="1899919"/>
            <a:ext cx="237744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059669"/>
                </a:solidFill>
                <a:latin typeface="Georgia"/>
                <a:ea typeface="Georgia"/>
                <a:cs typeface="Georgia"/>
                <a:sym typeface="Georgia"/>
              </a:defRPr>
            </a:lvl1pPr>
          </a:lstStyle>
          <a:p>
            <a:r>
              <a:t>YOUR Network Effects</a:t>
            </a:r>
          </a:p>
        </p:txBody>
      </p:sp>
      <p:sp>
        <p:nvSpPr>
          <p:cNvPr id="276" name="Text 18"/>
          <p:cNvSpPr txBox="1"/>
          <p:nvPr/>
        </p:nvSpPr>
        <p:spPr>
          <a:xfrm>
            <a:off x="6172200" y="2163485"/>
            <a:ext cx="2377441" cy="3456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i="1">
                <a:solidFill>
                  <a:srgbClr val="3D3D5C"/>
                </a:solidFill>
              </a:defRPr>
            </a:lvl1pPr>
          </a:lstStyle>
          <a:p>
            <a:r>
              <a:t>How does each user make it better for ALL? (the ^ exponent)</a:t>
            </a:r>
          </a:p>
        </p:txBody>
      </p:sp>
      <p:sp>
        <p:nvSpPr>
          <p:cNvPr id="277" name="Text 19"/>
          <p:cNvSpPr txBox="1"/>
          <p:nvPr/>
        </p:nvSpPr>
        <p:spPr>
          <a:xfrm>
            <a:off x="6172200" y="2542032"/>
            <a:ext cx="2377441" cy="9059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800" b="1">
                <a:solidFill>
                  <a:srgbClr val="DC2626"/>
                </a:solidFill>
              </a:defRPr>
            </a:pPr>
            <a:r>
              <a:t>❌ Too vague: </a:t>
            </a:r>
            <a:r>
              <a:rPr b="0">
                <a:solidFill>
                  <a:srgbClr val="6B7280"/>
                </a:solidFill>
              </a:rPr>
              <a:t>"More users = more data"</a:t>
            </a:r>
          </a:p>
          <a:p>
            <a:pPr>
              <a:lnSpc>
                <a:spcPct val="115000"/>
              </a:lnSpc>
              <a:defRPr sz="800" b="1">
                <a:solidFill>
                  <a:srgbClr val="DC2626"/>
                </a:solidFill>
              </a:defRPr>
            </a:pPr>
            <a:endParaRPr b="0">
              <a:solidFill>
                <a:srgbClr val="6B7280"/>
              </a:solidFill>
            </a:endParaRPr>
          </a:p>
          <a:p>
            <a:pPr>
              <a:lnSpc>
                <a:spcPct val="115000"/>
              </a:lnSpc>
              <a:defRPr sz="800" b="1">
                <a:solidFill>
                  <a:srgbClr val="DC2626"/>
                </a:solidFill>
              </a:defRPr>
            </a:pPr>
            <a:r>
              <a:rPr>
                <a:solidFill>
                  <a:srgbClr val="059669"/>
                </a:solidFill>
              </a:rPr>
              <a:t>✅ Specific: </a:t>
            </a:r>
            <a:r>
              <a:rPr b="0">
                <a:solidFill>
                  <a:srgbClr val="3D3D5C"/>
                </a:solidFill>
              </a:rPr>
              <a:t>"Every retained customer teaches the model a new pattern → improves retention for all customers"</a:t>
            </a:r>
          </a:p>
        </p:txBody>
      </p:sp>
      <p:sp>
        <p:nvSpPr>
          <p:cNvPr id="278" name="Shape 20"/>
          <p:cNvSpPr/>
          <p:nvPr/>
        </p:nvSpPr>
        <p:spPr>
          <a:xfrm>
            <a:off x="365759" y="4343400"/>
            <a:ext cx="8412482" cy="365761"/>
          </a:xfrm>
          <a:prstGeom prst="rect">
            <a:avLst/>
          </a:prstGeom>
          <a:solidFill>
            <a:srgbClr val="FFFBEB"/>
          </a:solidFill>
          <a:ln w="12700">
            <a:miter lim="400000"/>
          </a:ln>
        </p:spPr>
        <p:txBody>
          <a:bodyPr lIns="45719" rIns="45719"/>
          <a:lstStyle/>
          <a:p>
            <a:endParaRPr/>
          </a:p>
        </p:txBody>
      </p:sp>
      <p:sp>
        <p:nvSpPr>
          <p:cNvPr id="279" name="Text 21"/>
          <p:cNvSpPr txBox="1"/>
          <p:nvPr/>
        </p:nvSpPr>
        <p:spPr>
          <a:xfrm>
            <a:off x="594360" y="4412024"/>
            <a:ext cx="7955279"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a:solidFill>
                  <a:srgbClr val="D97706"/>
                </a:solidFill>
              </a:defRPr>
            </a:lvl1pPr>
          </a:lstStyle>
          <a:p>
            <a:r>
              <a:t>Remember: × means multiplicative (neither works alone). ^ means exponential (the flywheel that makes the engine accelerate).</a:t>
            </a:r>
          </a:p>
        </p:txBody>
      </p:sp>
      <p:sp>
        <p:nvSpPr>
          <p:cNvPr id="280" name="Text 22"/>
          <p:cNvSpPr txBox="1"/>
          <p:nvPr/>
        </p:nvSpPr>
        <p:spPr>
          <a:xfrm>
            <a:off x="320040" y="4844700"/>
            <a:ext cx="850392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a:solidFill>
                  <a:srgbClr val="9CA3AF"/>
                </a:solidFill>
              </a:defRPr>
            </a:lvl1pPr>
          </a:lstStyle>
          <a:p>
            <a:r>
              <a:t>Session 2 Assignment  |  Extraordinary Problem |  FDE Program Batch 1  |  IIT Roorkee</a:t>
            </a:r>
          </a:p>
        </p:txBody>
      </p:sp>
      <p:sp>
        <p:nvSpPr>
          <p:cNvPr id="281" name="Optional"/>
          <p:cNvSpPr txBox="1"/>
          <p:nvPr/>
        </p:nvSpPr>
        <p:spPr>
          <a:xfrm rot="768353">
            <a:off x="2737964" y="3452725"/>
            <a:ext cx="2543062" cy="7386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5000" b="1"/>
            </a:lvl1pPr>
          </a:lstStyle>
          <a:p>
            <a:r>
              <a:t>Optional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Shape 0"/>
          <p:cNvSpPr/>
          <p:nvPr/>
        </p:nvSpPr>
        <p:spPr>
          <a:xfrm>
            <a:off x="0" y="-1"/>
            <a:ext cx="9144000" cy="45722"/>
          </a:xfrm>
          <a:prstGeom prst="rect">
            <a:avLst/>
          </a:prstGeom>
          <a:solidFill>
            <a:srgbClr val="2563EB"/>
          </a:solidFill>
          <a:ln w="12700">
            <a:miter lim="400000"/>
          </a:ln>
        </p:spPr>
        <p:txBody>
          <a:bodyPr lIns="45719" rIns="45719"/>
          <a:lstStyle/>
          <a:p>
            <a:endParaRPr/>
          </a:p>
        </p:txBody>
      </p:sp>
      <p:sp>
        <p:nvSpPr>
          <p:cNvPr id="284" name="Text 1"/>
          <p:cNvSpPr txBox="1"/>
          <p:nvPr/>
        </p:nvSpPr>
        <p:spPr>
          <a:xfrm>
            <a:off x="502919" y="182879"/>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2563EB"/>
                </a:solidFill>
              </a:defRPr>
            </a:lvl1pPr>
          </a:lstStyle>
          <a:p>
            <a:r>
              <a:t>STEP 4</a:t>
            </a:r>
          </a:p>
        </p:txBody>
      </p:sp>
      <p:sp>
        <p:nvSpPr>
          <p:cNvPr id="285"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rPr dirty="0"/>
              <a:t>Optional: Define YOUR Economic Equation</a:t>
            </a:r>
          </a:p>
        </p:txBody>
      </p:sp>
      <p:sp>
        <p:nvSpPr>
          <p:cNvPr id="286" name="Text 48"/>
          <p:cNvSpPr txBox="1"/>
          <p:nvPr/>
        </p:nvSpPr>
        <p:spPr>
          <a:xfrm>
            <a:off x="510744" y="1139471"/>
            <a:ext cx="7863841" cy="40318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lang="en-US" b="1" dirty="0"/>
              <a:t> </a:t>
            </a:r>
            <a:r>
              <a:rPr lang="en-US" sz="1000" b="1" dirty="0">
                <a:latin typeface="Arial" panose="020B0604020202020204" pitchFamily="34" charset="0"/>
                <a:cs typeface="Arial" panose="020B0604020202020204" pitchFamily="34" charset="0"/>
              </a:rPr>
              <a:t>1</a:t>
            </a:r>
            <a:r>
              <a:rPr lang="en-US" b="1" dirty="0"/>
              <a:t>.</a:t>
            </a:r>
            <a:r>
              <a:rPr lang="en-US" sz="1000" b="1" dirty="0">
                <a:latin typeface="Arial" panose="020B0604020202020204" pitchFamily="34" charset="0"/>
                <a:cs typeface="Arial" panose="020B0604020202020204" pitchFamily="34" charset="0"/>
              </a:rPr>
              <a:t>YOUR Data → What your system uniquely owns</a:t>
            </a:r>
          </a:p>
          <a:p>
            <a:r>
              <a:rPr lang="en-US" sz="1000" b="1" dirty="0">
                <a:latin typeface="Arial" panose="020B0604020202020204" pitchFamily="34" charset="0"/>
                <a:cs typeface="Arial" panose="020B0604020202020204" pitchFamily="34" charset="0"/>
              </a:rPr>
              <a:t>Project‑level exhaust data</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Workflows, milestones, dependencies, change history, and approvals across many projects, not just tasks.</a:t>
            </a:r>
          </a:p>
          <a:p>
            <a:r>
              <a:rPr lang="en-US" sz="1000" b="1" dirty="0">
                <a:latin typeface="Arial" panose="020B0604020202020204" pitchFamily="34" charset="0"/>
                <a:cs typeface="Arial" panose="020B0604020202020204" pitchFamily="34" charset="0"/>
              </a:rPr>
              <a:t>People and skill‑trajectory data</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Historical assignments, delivery outcomes, ramp‑up time, and overloads, not just “current allocation.”</a:t>
            </a:r>
          </a:p>
          <a:p>
            <a:r>
              <a:rPr lang="en-US" sz="1000" b="1" dirty="0">
                <a:latin typeface="Arial" panose="020B0604020202020204" pitchFamily="34" charset="0"/>
                <a:cs typeface="Arial" panose="020B0604020202020204" pitchFamily="34" charset="0"/>
              </a:rPr>
              <a:t>Architecture‑to‑execution traces</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Mapping between design decisions, stories, tests, and releases.</a:t>
            </a:r>
          </a:p>
          <a:p>
            <a:r>
              <a:rPr lang="en-US" sz="1000" b="1" dirty="0">
                <a:latin typeface="Arial" panose="020B0604020202020204" pitchFamily="34" charset="0"/>
                <a:cs typeface="Arial" panose="020B0604020202020204" pitchFamily="34" charset="0"/>
              </a:rPr>
              <a:t>Stakeholder communication logs</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Escalations, responses, nudge effectiveness, and “layman‑friendly” comprehension markers (e.g., questions after an update, action taken).</a:t>
            </a:r>
          </a:p>
          <a:p>
            <a:r>
              <a:rPr lang="en-US" sz="1000" dirty="0">
                <a:latin typeface="Arial" panose="020B0604020202020204" pitchFamily="34" charset="0"/>
                <a:cs typeface="Arial" panose="020B0604020202020204" pitchFamily="34" charset="0"/>
              </a:rPr>
              <a:t>These four data dimensions are </a:t>
            </a:r>
            <a:r>
              <a:rPr lang="en-US" sz="1000" b="1" dirty="0">
                <a:latin typeface="Arial" panose="020B0604020202020204" pitchFamily="34" charset="0"/>
                <a:cs typeface="Arial" panose="020B0604020202020204" pitchFamily="34" charset="0"/>
              </a:rPr>
              <a:t>non‑rival, reusable</a:t>
            </a:r>
            <a:r>
              <a:rPr lang="en-US" sz="1000" dirty="0">
                <a:latin typeface="Arial" panose="020B0604020202020204" pitchFamily="34" charset="0"/>
                <a:cs typeface="Arial" panose="020B0604020202020204" pitchFamily="34" charset="0"/>
              </a:rPr>
              <a:t>, and compound over time, which is the core of your data advantage.economics.harvard+1</a:t>
            </a:r>
          </a:p>
          <a:p>
            <a:br>
              <a:rPr lang="en-US" sz="1000" dirty="0">
                <a:latin typeface="Arial" panose="020B0604020202020204" pitchFamily="34" charset="0"/>
                <a:cs typeface="Arial" panose="020B0604020202020204" pitchFamily="34" charset="0"/>
              </a:rPr>
            </a:br>
            <a:endParaRPr lang="en-US" sz="1000" dirty="0">
              <a:latin typeface="Arial" panose="020B0604020202020204" pitchFamily="34" charset="0"/>
              <a:cs typeface="Arial" panose="020B0604020202020204" pitchFamily="34" charset="0"/>
            </a:endParaRPr>
          </a:p>
          <a:p>
            <a:r>
              <a:rPr lang="en-US" sz="1000" b="1" dirty="0">
                <a:latin typeface="Arial" panose="020B0604020202020204" pitchFamily="34" charset="0"/>
                <a:cs typeface="Arial" panose="020B0604020202020204" pitchFamily="34" charset="0"/>
              </a:rPr>
              <a:t>2. YOUR Algorithms → What thinking engine you own</a:t>
            </a:r>
          </a:p>
          <a:p>
            <a:r>
              <a:rPr lang="en-US" sz="1000" b="1" dirty="0">
                <a:latin typeface="Arial" panose="020B0604020202020204" pitchFamily="34" charset="0"/>
                <a:cs typeface="Arial" panose="020B0604020202020204" pitchFamily="34" charset="0"/>
              </a:rPr>
              <a:t>Delivery Graph Intelligence</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Graph‑based algorithms that connect people, work, risks, and decisions to answer “what‑worked‑before‑for‑similar‑situations.”</a:t>
            </a:r>
          </a:p>
          <a:p>
            <a:r>
              <a:rPr lang="en-US" sz="1000" b="1" dirty="0">
                <a:latin typeface="Arial" panose="020B0604020202020204" pitchFamily="34" charset="0"/>
                <a:cs typeface="Arial" panose="020B0604020202020204" pitchFamily="34" charset="0"/>
              </a:rPr>
              <a:t>Adaptive Resource‑Fit Optimizer</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Matching models that learn from historical success, not just static rules.</a:t>
            </a:r>
          </a:p>
          <a:p>
            <a:r>
              <a:rPr lang="en-US" sz="1000" b="1" dirty="0">
                <a:latin typeface="Arial" panose="020B0604020202020204" pitchFamily="34" charset="0"/>
                <a:cs typeface="Arial" panose="020B0604020202020204" pitchFamily="34" charset="0"/>
              </a:rPr>
              <a:t>Clarity &amp; Nudge Engine</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ML‑style models that personalize summaries, escalation timing, and layman‑friendly formats.</a:t>
            </a:r>
          </a:p>
          <a:p>
            <a:r>
              <a:rPr lang="en-US" sz="1000" dirty="0">
                <a:latin typeface="Arial" panose="020B0604020202020204" pitchFamily="34" charset="0"/>
                <a:cs typeface="Arial" panose="020B0604020202020204" pitchFamily="34" charset="0"/>
              </a:rPr>
              <a:t>These algorithms turn your </a:t>
            </a:r>
            <a:r>
              <a:rPr lang="en-US" sz="1000" b="1" dirty="0">
                <a:latin typeface="Arial" panose="020B0604020202020204" pitchFamily="34" charset="0"/>
                <a:cs typeface="Arial" panose="020B0604020202020204" pitchFamily="34" charset="0"/>
              </a:rPr>
              <a:t>data</a:t>
            </a:r>
            <a:r>
              <a:rPr lang="en-US" sz="1000" dirty="0">
                <a:latin typeface="Arial" panose="020B0604020202020204" pitchFamily="34" charset="0"/>
                <a:cs typeface="Arial" panose="020B0604020202020204" pitchFamily="34" charset="0"/>
              </a:rPr>
              <a:t> into </a:t>
            </a:r>
            <a:r>
              <a:rPr lang="en-US" sz="1000" b="1" dirty="0">
                <a:latin typeface="Arial" panose="020B0604020202020204" pitchFamily="34" charset="0"/>
                <a:cs typeface="Arial" panose="020B0604020202020204" pitchFamily="34" charset="0"/>
              </a:rPr>
              <a:t>actionable insight</a:t>
            </a:r>
            <a:r>
              <a:rPr lang="en-US" sz="1000" dirty="0">
                <a:latin typeface="Arial" panose="020B0604020202020204" pitchFamily="34" charset="0"/>
                <a:cs typeface="Arial" panose="020B0604020202020204" pitchFamily="34" charset="0"/>
              </a:rPr>
              <a:t>; changing them shifts the whole economic curve.arxiv+1</a:t>
            </a:r>
          </a:p>
          <a:p>
            <a:br>
              <a:rPr lang="en-US" sz="1000" dirty="0">
                <a:latin typeface="Arial" panose="020B0604020202020204" pitchFamily="34" charset="0"/>
                <a:cs typeface="Arial" panose="020B0604020202020204" pitchFamily="34" charset="0"/>
              </a:rPr>
            </a:br>
            <a:endParaRPr dirty="0"/>
          </a:p>
        </p:txBody>
      </p:sp>
      <p:sp>
        <p:nvSpPr>
          <p:cNvPr id="288"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289"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D9CA48FF-E90C-1016-C4D9-C97BDAF0E14C}"/>
              </a:ext>
            </a:extLst>
          </p:cNvPr>
          <p:cNvSpPr txBox="1"/>
          <p:nvPr/>
        </p:nvSpPr>
        <p:spPr>
          <a:xfrm>
            <a:off x="502919" y="182879"/>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2563EB"/>
                </a:solidFill>
              </a:defRPr>
            </a:lvl1pPr>
          </a:lstStyle>
          <a:p>
            <a:r>
              <a:t>STEP 4</a:t>
            </a:r>
          </a:p>
        </p:txBody>
      </p:sp>
      <p:sp>
        <p:nvSpPr>
          <p:cNvPr id="3" name="Text 2">
            <a:extLst>
              <a:ext uri="{FF2B5EF4-FFF2-40B4-BE49-F238E27FC236}">
                <a16:creationId xmlns:a16="http://schemas.microsoft.com/office/drawing/2014/main" id="{50D06A65-3417-986E-BA6E-4DBC5B24F120}"/>
              </a:ext>
            </a:extLst>
          </p:cNvPr>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rPr dirty="0"/>
              <a:t>Optional: Define YOUR Economic Equation</a:t>
            </a:r>
          </a:p>
        </p:txBody>
      </p:sp>
      <p:sp>
        <p:nvSpPr>
          <p:cNvPr id="4" name="Text 48">
            <a:extLst>
              <a:ext uri="{FF2B5EF4-FFF2-40B4-BE49-F238E27FC236}">
                <a16:creationId xmlns:a16="http://schemas.microsoft.com/office/drawing/2014/main" id="{C888064F-E844-A908-2FE1-657B263E7783}"/>
              </a:ext>
            </a:extLst>
          </p:cNvPr>
          <p:cNvSpPr txBox="1"/>
          <p:nvPr/>
        </p:nvSpPr>
        <p:spPr>
          <a:xfrm>
            <a:off x="510744" y="1139471"/>
            <a:ext cx="7863841" cy="44798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lang="en-US" b="1" dirty="0"/>
              <a:t> </a:t>
            </a:r>
            <a:endParaRPr lang="en-US" sz="1000" dirty="0">
              <a:latin typeface="Arial" panose="020B0604020202020204" pitchFamily="34" charset="0"/>
              <a:cs typeface="Arial" panose="020B0604020202020204" pitchFamily="34" charset="0"/>
            </a:endParaRPr>
          </a:p>
          <a:p>
            <a:r>
              <a:rPr lang="en-US" sz="1000" b="1" dirty="0">
                <a:latin typeface="Arial" panose="020B0604020202020204" pitchFamily="34" charset="0"/>
                <a:cs typeface="Arial" panose="020B0604020202020204" pitchFamily="34" charset="0"/>
              </a:rPr>
              <a:t>3. YOUR Network Effects → How each user improves the system</a:t>
            </a:r>
          </a:p>
          <a:p>
            <a:r>
              <a:rPr lang="en-US" sz="1000" b="1" dirty="0">
                <a:latin typeface="Arial" panose="020B0604020202020204" pitchFamily="34" charset="0"/>
                <a:cs typeface="Arial" panose="020B0604020202020204" pitchFamily="34" charset="0"/>
              </a:rPr>
              <a:t>More projects</a:t>
            </a:r>
            <a:r>
              <a:rPr lang="en-US" sz="1000" dirty="0">
                <a:latin typeface="Arial" panose="020B0604020202020204" pitchFamily="34" charset="0"/>
                <a:cs typeface="Arial" panose="020B0604020202020204" pitchFamily="34" charset="0"/>
              </a:rPr>
              <a:t> → richer patterns and more robust “project‑similarity” signals.</a:t>
            </a:r>
          </a:p>
          <a:p>
            <a:r>
              <a:rPr lang="en-US" sz="1000" b="1" dirty="0">
                <a:latin typeface="Arial" panose="020B0604020202020204" pitchFamily="34" charset="0"/>
                <a:cs typeface="Arial" panose="020B0604020202020204" pitchFamily="34" charset="0"/>
              </a:rPr>
              <a:t>More teams</a:t>
            </a:r>
            <a:r>
              <a:rPr lang="en-US" sz="1000" dirty="0">
                <a:latin typeface="Arial" panose="020B0604020202020204" pitchFamily="34" charset="0"/>
                <a:cs typeface="Arial" panose="020B0604020202020204" pitchFamily="34" charset="0"/>
              </a:rPr>
              <a:t> → more diverse domains, architectures, and constraints to learn from.</a:t>
            </a:r>
          </a:p>
          <a:p>
            <a:r>
              <a:rPr lang="en-US" sz="1000" b="1" dirty="0">
                <a:latin typeface="Arial" panose="020B0604020202020204" pitchFamily="34" charset="0"/>
                <a:cs typeface="Arial" panose="020B0604020202020204" pitchFamily="34" charset="0"/>
              </a:rPr>
              <a:t>More stakeholders</a:t>
            </a:r>
            <a:r>
              <a:rPr lang="en-US" sz="1000" dirty="0">
                <a:latin typeface="Arial" panose="020B0604020202020204" pitchFamily="34" charset="0"/>
                <a:cs typeface="Arial" panose="020B0604020202020204" pitchFamily="34" charset="0"/>
              </a:rPr>
              <a:t> → better training data for clarity, nudge formats, and decision‑cycle timing.</a:t>
            </a:r>
          </a:p>
          <a:p>
            <a:r>
              <a:rPr lang="en-US" sz="1000" dirty="0">
                <a:latin typeface="Arial" panose="020B0604020202020204" pitchFamily="34" charset="0"/>
                <a:cs typeface="Arial" panose="020B0604020202020204" pitchFamily="34" charset="0"/>
              </a:rPr>
              <a:t>Each user adds to the </a:t>
            </a:r>
            <a:r>
              <a:rPr lang="en-US" sz="1000" b="1" dirty="0">
                <a:latin typeface="Arial" panose="020B0604020202020204" pitchFamily="34" charset="0"/>
                <a:cs typeface="Arial" panose="020B0604020202020204" pitchFamily="34" charset="0"/>
              </a:rPr>
              <a:t>exponent.</a:t>
            </a:r>
            <a:br>
              <a:rPr lang="en-US" sz="1000" dirty="0">
                <a:latin typeface="Arial" panose="020B0604020202020204" pitchFamily="34" charset="0"/>
                <a:cs typeface="Arial" panose="020B0604020202020204" pitchFamily="34" charset="0"/>
              </a:rPr>
            </a:br>
            <a:endParaRPr lang="en-US" sz="1000" dirty="0">
              <a:latin typeface="Arial" panose="020B0604020202020204" pitchFamily="34" charset="0"/>
              <a:cs typeface="Arial" panose="020B0604020202020204" pitchFamily="34" charset="0"/>
            </a:endParaRPr>
          </a:p>
          <a:p>
            <a:r>
              <a:rPr lang="en-US" sz="1000" b="1" dirty="0">
                <a:latin typeface="Arial" panose="020B0604020202020204" pitchFamily="34" charset="0"/>
                <a:cs typeface="Arial" panose="020B0604020202020204" pitchFamily="34" charset="0"/>
              </a:rPr>
              <a:t>4. YOUR New Economics → Concrete business‑value levers you can define</a:t>
            </a:r>
          </a:p>
          <a:p>
            <a:r>
              <a:rPr lang="en-US" sz="1000" b="1" dirty="0">
                <a:latin typeface="Arial" panose="020B0604020202020204" pitchFamily="34" charset="0"/>
                <a:cs typeface="Arial" panose="020B0604020202020204" pitchFamily="34" charset="0"/>
              </a:rPr>
              <a:t>For PMs / Delivery Managers</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Faster time‑to‑stable plans, fewer last‑minute surprises, and higher predictability (e.g., reduce schedule slippage by 5–10%).ibm+1</a:t>
            </a:r>
          </a:p>
          <a:p>
            <a:r>
              <a:rPr lang="en-US" sz="1000" b="1" dirty="0">
                <a:latin typeface="Arial" panose="020B0604020202020204" pitchFamily="34" charset="0"/>
                <a:cs typeface="Arial" panose="020B0604020202020204" pitchFamily="34" charset="0"/>
              </a:rPr>
              <a:t>For Resourcing / COO</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Higher effective utilization, fewer “bodies on hold,” and lower bench‑to‑bench‑transfer drag (e.g., add 5–10% equivalent utilization without hiring more people).thesciencebrigade+1</a:t>
            </a:r>
          </a:p>
          <a:p>
            <a:r>
              <a:rPr lang="en-US" sz="1000" b="1" dirty="0">
                <a:latin typeface="Arial" panose="020B0604020202020204" pitchFamily="34" charset="0"/>
                <a:cs typeface="Arial" panose="020B0604020202020204" pitchFamily="34" charset="0"/>
              </a:rPr>
              <a:t>For Architects / Tech Leads</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Fewer architecture‑to‑execution gaps and fewer “re‑design‑in‑mid‑sprint” events by surfacing risk‑drivers earlier.opentext+1</a:t>
            </a:r>
          </a:p>
          <a:p>
            <a:r>
              <a:rPr lang="en-US" sz="1000" b="1" dirty="0">
                <a:latin typeface="Arial" panose="020B0604020202020204" pitchFamily="34" charset="0"/>
                <a:cs typeface="Arial" panose="020B0604020202020204" pitchFamily="34" charset="0"/>
              </a:rPr>
              <a:t>For Leadership / Laymen</a:t>
            </a:r>
            <a:endParaRPr lang="en-US" sz="1000" dirty="0">
              <a:latin typeface="Arial" panose="020B0604020202020204" pitchFamily="34" charset="0"/>
              <a:cs typeface="Arial" panose="020B0604020202020204" pitchFamily="34" charset="0"/>
            </a:endParaRPr>
          </a:p>
          <a:p>
            <a:pPr lvl="1"/>
            <a:r>
              <a:rPr lang="en-US" sz="1000" dirty="0">
                <a:latin typeface="Arial" panose="020B0604020202020204" pitchFamily="34" charset="0"/>
                <a:cs typeface="Arial" panose="020B0604020202020204" pitchFamily="34" charset="0"/>
              </a:rPr>
              <a:t>Better understanding with less manual reporting, reducing decision latency and misalignment (e.g., 10–20% faster decision‑cycles, fewer “we thought it was ready” shocks).smartsuite+1</a:t>
            </a:r>
          </a:p>
          <a:p>
            <a:r>
              <a:rPr lang="en-US" sz="1000" dirty="0">
                <a:latin typeface="Arial" panose="020B0604020202020204" pitchFamily="34" charset="0"/>
                <a:cs typeface="Arial" panose="020B0604020202020204" pitchFamily="34" charset="0"/>
              </a:rPr>
              <a:t>When you present this to a business owner, you can say:</a:t>
            </a:r>
            <a:br>
              <a:rPr lang="en-US" sz="1000" dirty="0">
                <a:latin typeface="Arial" panose="020B0604020202020204" pitchFamily="34" charset="0"/>
                <a:cs typeface="Arial" panose="020B0604020202020204" pitchFamily="34" charset="0"/>
              </a:rPr>
            </a:br>
            <a:r>
              <a:rPr lang="en-US" sz="1000" dirty="0">
                <a:latin typeface="Arial" panose="020B0604020202020204" pitchFamily="34" charset="0"/>
                <a:cs typeface="Arial" panose="020B0604020202020204" pitchFamily="34" charset="0"/>
              </a:rPr>
              <a:t>“Every new project is a new data point, every new user makes the engine smarter for everyone, and that </a:t>
            </a:r>
            <a:r>
              <a:rPr lang="en-US" sz="1000" b="1" dirty="0">
                <a:latin typeface="Arial" panose="020B0604020202020204" pitchFamily="34" charset="0"/>
                <a:cs typeface="Arial" panose="020B0604020202020204" pitchFamily="34" charset="0"/>
              </a:rPr>
              <a:t>compounding learning</a:t>
            </a:r>
            <a:r>
              <a:rPr lang="en-US" sz="1000" dirty="0">
                <a:latin typeface="Arial" panose="020B0604020202020204" pitchFamily="34" charset="0"/>
                <a:cs typeface="Arial" panose="020B0604020202020204" pitchFamily="34" charset="0"/>
              </a:rPr>
              <a:t> is your </a:t>
            </a:r>
            <a:r>
              <a:rPr lang="en-US" sz="1000" b="1" dirty="0">
                <a:latin typeface="Arial" panose="020B0604020202020204" pitchFamily="34" charset="0"/>
                <a:cs typeface="Arial" panose="020B0604020202020204" pitchFamily="34" charset="0"/>
              </a:rPr>
              <a:t>new economics</a:t>
            </a:r>
            <a:r>
              <a:rPr lang="en-US" sz="1000" dirty="0">
                <a:latin typeface="Arial" panose="020B0604020202020204" pitchFamily="34" charset="0"/>
                <a:cs typeface="Arial" panose="020B0604020202020204" pitchFamily="34" charset="0"/>
              </a:rPr>
              <a:t> — not headcount</a:t>
            </a:r>
          </a:p>
          <a:p>
            <a:pPr>
              <a:lnSpc>
                <a:spcPct val="115000"/>
              </a:lnSpc>
              <a:defRPr sz="1100" b="1">
                <a:solidFill>
                  <a:srgbClr val="1A1A2E"/>
                </a:solidFill>
              </a:defRPr>
            </a:pPr>
            <a:endParaRPr sz="1000" dirty="0">
              <a:latin typeface="Arial" panose="020B0604020202020204" pitchFamily="34" charset="0"/>
              <a:cs typeface="Arial" panose="020B0604020202020204" pitchFamily="34" charset="0"/>
            </a:endParaRPr>
          </a:p>
          <a:p>
            <a:pPr>
              <a:lnSpc>
                <a:spcPct val="115000"/>
              </a:lnSpc>
              <a:defRPr sz="1100" b="1">
                <a:solidFill>
                  <a:srgbClr val="1A1A2E"/>
                </a:solidFill>
              </a:defRPr>
            </a:pPr>
            <a:r>
              <a:rPr lang="en-US" sz="1400" dirty="0">
                <a:highlight>
                  <a:srgbClr val="FFFF00"/>
                </a:highlight>
              </a:rPr>
              <a:t>YOUR New Economics=(Project Data × Talent Data × Decision Data × Communication Data)×(Delivery Graph + Resource‑Fit + Clarity Algorithms) ^ Network Effects from Projects, Teams, and Stakeholders</a:t>
            </a:r>
            <a:endParaRPr sz="1400" dirty="0">
              <a:highlight>
                <a:srgbClr val="FFFF00"/>
              </a:highlight>
              <a:latin typeface="Arial" panose="020B0604020202020204" pitchFamily="34" charset="0"/>
              <a:cs typeface="Arial" panose="020B0604020202020204" pitchFamily="34" charset="0"/>
            </a:endParaRPr>
          </a:p>
          <a:p>
            <a:pPr>
              <a:lnSpc>
                <a:spcPct val="115000"/>
              </a:lnSpc>
              <a:defRPr sz="1100" b="1">
                <a:solidFill>
                  <a:srgbClr val="1A1A2E"/>
                </a:solidFill>
              </a:defRPr>
            </a:pPr>
            <a:endParaRPr sz="1000" dirty="0">
              <a:latin typeface="Arial" panose="020B0604020202020204" pitchFamily="34" charset="0"/>
              <a:cs typeface="Arial" panose="020B0604020202020204" pitchFamily="34" charset="0"/>
            </a:endParaRPr>
          </a:p>
          <a:p>
            <a:pPr>
              <a:lnSpc>
                <a:spcPct val="115000"/>
              </a:lnSpc>
              <a:defRPr sz="1100" b="1">
                <a:solidFill>
                  <a:srgbClr val="1A1A2E"/>
                </a:solidFill>
              </a:defRPr>
            </a:pPr>
            <a:endParaRPr dirty="0"/>
          </a:p>
        </p:txBody>
      </p:sp>
    </p:spTree>
    <p:extLst>
      <p:ext uri="{BB962C8B-B14F-4D97-AF65-F5344CB8AC3E}">
        <p14:creationId xmlns:p14="http://schemas.microsoft.com/office/powerpoint/2010/main" val="307571864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Shape 0"/>
          <p:cNvSpPr/>
          <p:nvPr/>
        </p:nvSpPr>
        <p:spPr>
          <a:xfrm>
            <a:off x="0" y="-1"/>
            <a:ext cx="9144000" cy="45722"/>
          </a:xfrm>
          <a:prstGeom prst="rect">
            <a:avLst/>
          </a:prstGeom>
          <a:solidFill>
            <a:srgbClr val="7C3AED"/>
          </a:solidFill>
          <a:ln w="12700">
            <a:miter lim="400000"/>
          </a:ln>
        </p:spPr>
        <p:txBody>
          <a:bodyPr lIns="45719" rIns="45719"/>
          <a:lstStyle/>
          <a:p>
            <a:endParaRPr/>
          </a:p>
        </p:txBody>
      </p:sp>
      <p:sp>
        <p:nvSpPr>
          <p:cNvPr id="292" name="Text 1"/>
          <p:cNvSpPr txBox="1"/>
          <p:nvPr/>
        </p:nvSpPr>
        <p:spPr>
          <a:xfrm>
            <a:off x="502919" y="182879"/>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7C3AED"/>
                </a:solidFill>
              </a:defRPr>
            </a:lvl1pPr>
          </a:lstStyle>
          <a:p>
            <a:r>
              <a:t>STEP 6</a:t>
            </a:r>
          </a:p>
        </p:txBody>
      </p:sp>
      <p:sp>
        <p:nvSpPr>
          <p:cNvPr id="293"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rPr dirty="0"/>
              <a:t>Apply First Principles × JTBD</a:t>
            </a:r>
          </a:p>
        </p:txBody>
      </p:sp>
      <p:sp>
        <p:nvSpPr>
          <p:cNvPr id="294" name="Shape 3"/>
          <p:cNvSpPr/>
          <p:nvPr/>
        </p:nvSpPr>
        <p:spPr>
          <a:xfrm>
            <a:off x="365759" y="960119"/>
            <a:ext cx="3977642" cy="3383281"/>
          </a:xfrm>
          <a:prstGeom prst="rect">
            <a:avLst/>
          </a:prstGeom>
          <a:solidFill>
            <a:srgbClr val="EFF6FF"/>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295" name="Shape 4"/>
          <p:cNvSpPr/>
          <p:nvPr/>
        </p:nvSpPr>
        <p:spPr>
          <a:xfrm>
            <a:off x="365759" y="960119"/>
            <a:ext cx="45721" cy="3383281"/>
          </a:xfrm>
          <a:prstGeom prst="rect">
            <a:avLst/>
          </a:prstGeom>
          <a:solidFill>
            <a:srgbClr val="2563EB"/>
          </a:solidFill>
          <a:ln w="12700">
            <a:miter lim="400000"/>
          </a:ln>
        </p:spPr>
        <p:txBody>
          <a:bodyPr lIns="45719" rIns="45719"/>
          <a:lstStyle/>
          <a:p>
            <a:endParaRPr/>
          </a:p>
        </p:txBody>
      </p:sp>
      <p:sp>
        <p:nvSpPr>
          <p:cNvPr id="296" name="Text 5"/>
          <p:cNvSpPr txBox="1"/>
          <p:nvPr/>
        </p:nvSpPr>
        <p:spPr>
          <a:xfrm>
            <a:off x="640079" y="1005839"/>
            <a:ext cx="3474720"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2563EB"/>
                </a:solidFill>
              </a:defRPr>
            </a:lvl1pPr>
          </a:lstStyle>
          <a:p>
            <a:r>
              <a:t>5a: FIRST PRINCIPLES</a:t>
            </a:r>
          </a:p>
        </p:txBody>
      </p:sp>
      <p:sp>
        <p:nvSpPr>
          <p:cNvPr id="297" name="Text 6"/>
          <p:cNvSpPr txBox="1"/>
          <p:nvPr/>
        </p:nvSpPr>
        <p:spPr>
          <a:xfrm>
            <a:off x="640079" y="1227835"/>
            <a:ext cx="3474720"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i="1">
                <a:solidFill>
                  <a:srgbClr val="2563EB"/>
                </a:solidFill>
                <a:latin typeface="Georgia"/>
                <a:ea typeface="Georgia"/>
                <a:cs typeface="Georgia"/>
                <a:sym typeface="Georgia"/>
              </a:defRPr>
            </a:lvl1pPr>
          </a:lstStyle>
          <a:p>
            <a:r>
              <a:t>"What is fundamentally TRUE?"</a:t>
            </a:r>
          </a:p>
        </p:txBody>
      </p:sp>
      <p:sp>
        <p:nvSpPr>
          <p:cNvPr id="298" name="Text 7"/>
          <p:cNvSpPr txBox="1"/>
          <p:nvPr/>
        </p:nvSpPr>
        <p:spPr>
          <a:xfrm>
            <a:off x="640079" y="1508759"/>
            <a:ext cx="3474720" cy="24263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20000"/>
              </a:lnSpc>
              <a:defRPr sz="1000" b="1">
                <a:solidFill>
                  <a:srgbClr val="1A1A2E"/>
                </a:solidFill>
              </a:defRPr>
            </a:pPr>
            <a:r>
              <a:rPr dirty="0"/>
              <a:t>1. List 3–5 assumptions </a:t>
            </a:r>
            <a:r>
              <a:rPr b="0" dirty="0">
                <a:solidFill>
                  <a:srgbClr val="3D3D5C"/>
                </a:solidFill>
              </a:rPr>
              <a:t>your industry makes about this problem. Things "everyone knows."</a:t>
            </a:r>
          </a:p>
          <a:p>
            <a:pPr>
              <a:lnSpc>
                <a:spcPct val="120000"/>
              </a:lnSpc>
              <a:defRPr sz="1000" b="1">
                <a:solidFill>
                  <a:srgbClr val="1A1A2E"/>
                </a:solidFill>
              </a:defRPr>
            </a:pPr>
            <a:endParaRPr b="0" dirty="0">
              <a:solidFill>
                <a:srgbClr val="3D3D5C"/>
              </a:solidFill>
            </a:endParaRPr>
          </a:p>
          <a:p>
            <a:pPr>
              <a:lnSpc>
                <a:spcPct val="120000"/>
              </a:lnSpc>
              <a:defRPr sz="1000" b="1">
                <a:solidFill>
                  <a:srgbClr val="1A1A2E"/>
                </a:solidFill>
              </a:defRPr>
            </a:pPr>
            <a:r>
              <a:rPr dirty="0"/>
              <a:t>2. Mark each: </a:t>
            </a:r>
            <a:r>
              <a:rPr b="0" dirty="0">
                <a:solidFill>
                  <a:srgbClr val="3D3D5C"/>
                </a:solidFill>
              </a:rPr>
              <a:t>TRUE (physics/logic — can't simplify further) or CONVENTION (exists because of history, not necessity).</a:t>
            </a:r>
          </a:p>
          <a:p>
            <a:pPr>
              <a:lnSpc>
                <a:spcPct val="120000"/>
              </a:lnSpc>
              <a:defRPr sz="1000" b="1">
                <a:solidFill>
                  <a:srgbClr val="1A1A2E"/>
                </a:solidFill>
              </a:defRPr>
            </a:pPr>
            <a:endParaRPr b="0" dirty="0">
              <a:solidFill>
                <a:srgbClr val="3D3D5C"/>
              </a:solidFill>
            </a:endParaRPr>
          </a:p>
          <a:p>
            <a:pPr>
              <a:lnSpc>
                <a:spcPct val="120000"/>
              </a:lnSpc>
              <a:defRPr sz="1000" b="1">
                <a:solidFill>
                  <a:srgbClr val="1A1A2E"/>
                </a:solidFill>
              </a:defRPr>
            </a:pPr>
            <a:r>
              <a:rPr dirty="0">
                <a:solidFill>
                  <a:srgbClr val="2563EB"/>
                </a:solidFill>
              </a:rPr>
              <a:t>3. Find the IRREDUCIBLE TRUTH </a:t>
            </a:r>
            <a:r>
              <a:rPr b="0" dirty="0">
                <a:solidFill>
                  <a:srgbClr val="3D3D5C"/>
                </a:solidFill>
              </a:rPr>
              <a:t>— what remains after all conventions are stripped away.</a:t>
            </a:r>
          </a:p>
          <a:p>
            <a:pPr>
              <a:lnSpc>
                <a:spcPct val="120000"/>
              </a:lnSpc>
              <a:defRPr sz="1000" b="1">
                <a:solidFill>
                  <a:srgbClr val="1A1A2E"/>
                </a:solidFill>
              </a:defRPr>
            </a:pPr>
            <a:endParaRPr b="0" dirty="0">
              <a:solidFill>
                <a:srgbClr val="3D3D5C"/>
              </a:solidFill>
            </a:endParaRPr>
          </a:p>
          <a:p>
            <a:pPr>
              <a:lnSpc>
                <a:spcPct val="120000"/>
              </a:lnSpc>
              <a:defRPr sz="1000" b="1">
                <a:solidFill>
                  <a:srgbClr val="1A1A2E"/>
                </a:solidFill>
              </a:defRPr>
            </a:pPr>
            <a:r>
              <a:rPr sz="900" dirty="0">
                <a:solidFill>
                  <a:srgbClr val="6B7280"/>
                </a:solidFill>
              </a:rPr>
              <a:t>Example (SpaceX):</a:t>
            </a:r>
          </a:p>
          <a:p>
            <a:pPr>
              <a:lnSpc>
                <a:spcPct val="120000"/>
              </a:lnSpc>
              <a:defRPr sz="1000" b="1">
                <a:solidFill>
                  <a:srgbClr val="1A1A2E"/>
                </a:solidFill>
              </a:defRPr>
            </a:pPr>
            <a:r>
              <a:rPr sz="900" b="0" i="1" dirty="0">
                <a:solidFill>
                  <a:srgbClr val="6B7280"/>
                </a:solidFill>
              </a:rPr>
              <a:t>Assumption: "Rockets cost $65M."</a:t>
            </a:r>
          </a:p>
          <a:p>
            <a:pPr>
              <a:lnSpc>
                <a:spcPct val="120000"/>
              </a:lnSpc>
              <a:defRPr sz="900" i="1">
                <a:solidFill>
                  <a:srgbClr val="6B7280"/>
                </a:solidFill>
              </a:defRPr>
            </a:pPr>
            <a:r>
              <a:rPr dirty="0"/>
              <a:t>Truth: Materials = 2% of price.</a:t>
            </a:r>
            <a:endParaRPr sz="1000" dirty="0"/>
          </a:p>
          <a:p>
            <a:pPr>
              <a:lnSpc>
                <a:spcPct val="120000"/>
              </a:lnSpc>
              <a:defRPr sz="900" i="1">
                <a:solidFill>
                  <a:srgbClr val="6B7280"/>
                </a:solidFill>
              </a:defRPr>
            </a:pPr>
            <a:r>
              <a:rPr dirty="0"/>
              <a:t>Irreducible: "No physical law makes rockets expensive or disposable."</a:t>
            </a:r>
          </a:p>
        </p:txBody>
      </p:sp>
      <p:sp>
        <p:nvSpPr>
          <p:cNvPr id="299" name="Shape 8"/>
          <p:cNvSpPr/>
          <p:nvPr/>
        </p:nvSpPr>
        <p:spPr>
          <a:xfrm>
            <a:off x="4800600" y="960119"/>
            <a:ext cx="3977641" cy="3383281"/>
          </a:xfrm>
          <a:prstGeom prst="rect">
            <a:avLst/>
          </a:prstGeom>
          <a:solidFill>
            <a:srgbClr val="F5F3FF"/>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300" name="Shape 9"/>
          <p:cNvSpPr/>
          <p:nvPr/>
        </p:nvSpPr>
        <p:spPr>
          <a:xfrm>
            <a:off x="4800600" y="960119"/>
            <a:ext cx="45721" cy="3383281"/>
          </a:xfrm>
          <a:prstGeom prst="rect">
            <a:avLst/>
          </a:prstGeom>
          <a:solidFill>
            <a:srgbClr val="7C3AED"/>
          </a:solidFill>
          <a:ln w="12700">
            <a:miter lim="400000"/>
          </a:ln>
        </p:spPr>
        <p:txBody>
          <a:bodyPr lIns="45719" rIns="45719"/>
          <a:lstStyle/>
          <a:p>
            <a:endParaRPr/>
          </a:p>
        </p:txBody>
      </p:sp>
      <p:sp>
        <p:nvSpPr>
          <p:cNvPr id="301" name="Text 10"/>
          <p:cNvSpPr txBox="1"/>
          <p:nvPr/>
        </p:nvSpPr>
        <p:spPr>
          <a:xfrm>
            <a:off x="5074920" y="1005839"/>
            <a:ext cx="3474719"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7C3AED"/>
                </a:solidFill>
              </a:defRPr>
            </a:lvl1pPr>
          </a:lstStyle>
          <a:p>
            <a:r>
              <a:t>5b: JOBS TO BE DONE</a:t>
            </a:r>
          </a:p>
        </p:txBody>
      </p:sp>
      <p:sp>
        <p:nvSpPr>
          <p:cNvPr id="302" name="Text 11"/>
          <p:cNvSpPr txBox="1"/>
          <p:nvPr/>
        </p:nvSpPr>
        <p:spPr>
          <a:xfrm>
            <a:off x="5074920" y="1227835"/>
            <a:ext cx="3474719"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i="1">
                <a:solidFill>
                  <a:srgbClr val="7C3AED"/>
                </a:solidFill>
                <a:latin typeface="Georgia"/>
                <a:ea typeface="Georgia"/>
                <a:cs typeface="Georgia"/>
                <a:sym typeface="Georgia"/>
              </a:defRPr>
            </a:lvl1pPr>
          </a:lstStyle>
          <a:p>
            <a:r>
              <a:rPr dirty="0"/>
              <a:t>"What is the customer HIRING this to do?"</a:t>
            </a:r>
          </a:p>
        </p:txBody>
      </p:sp>
      <p:sp>
        <p:nvSpPr>
          <p:cNvPr id="303" name="Text 12"/>
          <p:cNvSpPr txBox="1"/>
          <p:nvPr/>
        </p:nvSpPr>
        <p:spPr>
          <a:xfrm>
            <a:off x="5074920" y="1508759"/>
            <a:ext cx="3474719" cy="22338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20000"/>
              </a:lnSpc>
              <a:defRPr sz="1000" b="1">
                <a:solidFill>
                  <a:srgbClr val="1A1A2E"/>
                </a:solidFill>
              </a:defRPr>
            </a:pPr>
            <a:r>
              <a:rPr dirty="0"/>
              <a:t>1. Write the Job Statement:</a:t>
            </a:r>
          </a:p>
          <a:p>
            <a:pPr>
              <a:lnSpc>
                <a:spcPct val="120000"/>
              </a:lnSpc>
              <a:defRPr sz="1000" b="1">
                <a:solidFill>
                  <a:srgbClr val="1A1A2E"/>
                </a:solidFill>
              </a:defRPr>
            </a:pPr>
            <a:r>
              <a:rPr b="0" i="1" dirty="0">
                <a:solidFill>
                  <a:srgbClr val="7C3AED"/>
                </a:solidFill>
              </a:rPr>
              <a:t>"When [situation], I want [motivation], so I can [outcome]."</a:t>
            </a:r>
          </a:p>
          <a:p>
            <a:pPr>
              <a:lnSpc>
                <a:spcPct val="120000"/>
              </a:lnSpc>
              <a:defRPr sz="1000" b="1">
                <a:solidFill>
                  <a:srgbClr val="1A1A2E"/>
                </a:solidFill>
              </a:defRPr>
            </a:pPr>
            <a:endParaRPr b="0" i="1" dirty="0">
              <a:solidFill>
                <a:srgbClr val="7C3AED"/>
              </a:solidFill>
            </a:endParaRPr>
          </a:p>
          <a:p>
            <a:pPr>
              <a:lnSpc>
                <a:spcPct val="120000"/>
              </a:lnSpc>
              <a:defRPr sz="1000" b="1">
                <a:solidFill>
                  <a:srgbClr val="1A1A2E"/>
                </a:solidFill>
              </a:defRPr>
            </a:pPr>
            <a:r>
              <a:rPr dirty="0"/>
              <a:t>2. Hiring / Firing: </a:t>
            </a:r>
            <a:r>
              <a:rPr b="0" dirty="0">
                <a:solidFill>
                  <a:srgbClr val="3D3D5C"/>
                </a:solidFill>
              </a:rPr>
              <a:t>What solutions are they using today (hiring)? What are they abandoning and why (firing)?</a:t>
            </a:r>
          </a:p>
          <a:p>
            <a:pPr>
              <a:lnSpc>
                <a:spcPct val="120000"/>
              </a:lnSpc>
              <a:defRPr sz="1000" b="1">
                <a:solidFill>
                  <a:srgbClr val="1A1A2E"/>
                </a:solidFill>
              </a:defRPr>
            </a:pPr>
            <a:endParaRPr b="0" dirty="0">
              <a:solidFill>
                <a:srgbClr val="3D3D5C"/>
              </a:solidFill>
            </a:endParaRPr>
          </a:p>
          <a:p>
            <a:pPr>
              <a:lnSpc>
                <a:spcPct val="120000"/>
              </a:lnSpc>
              <a:defRPr sz="1000" b="1">
                <a:solidFill>
                  <a:srgbClr val="1A1A2E"/>
                </a:solidFill>
              </a:defRPr>
            </a:pPr>
            <a:r>
              <a:rPr dirty="0">
                <a:solidFill>
                  <a:srgbClr val="7C3AED"/>
                </a:solidFill>
              </a:rPr>
              <a:t>3. Find the REAL competition </a:t>
            </a:r>
            <a:r>
              <a:rPr b="0" dirty="0">
                <a:solidFill>
                  <a:srgbClr val="3D3D5C"/>
                </a:solidFill>
              </a:rPr>
              <a:t>— usually NOT who you think.</a:t>
            </a:r>
          </a:p>
          <a:p>
            <a:pPr>
              <a:lnSpc>
                <a:spcPct val="120000"/>
              </a:lnSpc>
              <a:defRPr sz="1000" b="1">
                <a:solidFill>
                  <a:srgbClr val="1A1A2E"/>
                </a:solidFill>
              </a:defRPr>
            </a:pPr>
            <a:endParaRPr b="0" dirty="0">
              <a:solidFill>
                <a:srgbClr val="3D3D5C"/>
              </a:solidFill>
            </a:endParaRPr>
          </a:p>
          <a:p>
            <a:pPr>
              <a:lnSpc>
                <a:spcPct val="120000"/>
              </a:lnSpc>
              <a:defRPr sz="1000" b="1">
                <a:solidFill>
                  <a:srgbClr val="1A1A2E"/>
                </a:solidFill>
              </a:defRPr>
            </a:pPr>
            <a:r>
              <a:rPr sz="900" dirty="0">
                <a:solidFill>
                  <a:srgbClr val="6B7280"/>
                </a:solidFill>
              </a:rPr>
              <a:t>Example (Airbnb):</a:t>
            </a:r>
          </a:p>
          <a:p>
            <a:pPr>
              <a:lnSpc>
                <a:spcPct val="120000"/>
              </a:lnSpc>
              <a:defRPr sz="1000" b="1">
                <a:solidFill>
                  <a:srgbClr val="1A1A2E"/>
                </a:solidFill>
              </a:defRPr>
            </a:pPr>
            <a:r>
              <a:rPr sz="900" b="0" i="1" dirty="0">
                <a:solidFill>
                  <a:srgbClr val="6B7280"/>
                </a:solidFill>
              </a:rPr>
              <a:t>Job: "When I travel, I want to belong."</a:t>
            </a:r>
          </a:p>
          <a:p>
            <a:pPr>
              <a:lnSpc>
                <a:spcPct val="120000"/>
              </a:lnSpc>
              <a:defRPr sz="900" i="1">
                <a:solidFill>
                  <a:srgbClr val="6B7280"/>
                </a:solidFill>
              </a:defRPr>
            </a:pPr>
            <a:r>
              <a:rPr dirty="0"/>
              <a:t>Firing: Hotels (generic, isolating).</a:t>
            </a:r>
            <a:endParaRPr sz="1000" dirty="0"/>
          </a:p>
          <a:p>
            <a:pPr>
              <a:lnSpc>
                <a:spcPct val="120000"/>
              </a:lnSpc>
              <a:defRPr sz="900" i="1">
                <a:solidFill>
                  <a:srgbClr val="6B7280"/>
                </a:solidFill>
              </a:defRPr>
            </a:pPr>
            <a:r>
              <a:rPr dirty="0"/>
              <a:t>Real competition: Tourist alienation — not other hotels.</a:t>
            </a:r>
          </a:p>
        </p:txBody>
      </p:sp>
      <p:sp>
        <p:nvSpPr>
          <p:cNvPr id="304"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305"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Shape 0"/>
          <p:cNvSpPr/>
          <p:nvPr/>
        </p:nvSpPr>
        <p:spPr>
          <a:xfrm>
            <a:off x="0" y="-1"/>
            <a:ext cx="9144000" cy="45722"/>
          </a:xfrm>
          <a:prstGeom prst="rect">
            <a:avLst/>
          </a:prstGeom>
          <a:solidFill>
            <a:srgbClr val="2563EB"/>
          </a:solidFill>
          <a:ln w="12700">
            <a:miter lim="400000"/>
          </a:ln>
        </p:spPr>
        <p:txBody>
          <a:bodyPr lIns="45719" rIns="45719"/>
          <a:lstStyle/>
          <a:p>
            <a:endParaRPr/>
          </a:p>
        </p:txBody>
      </p:sp>
      <p:sp>
        <p:nvSpPr>
          <p:cNvPr id="308" name="Text 1"/>
          <p:cNvSpPr txBox="1"/>
          <p:nvPr/>
        </p:nvSpPr>
        <p:spPr>
          <a:xfrm>
            <a:off x="502919" y="182879"/>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2563EB"/>
                </a:solidFill>
              </a:defRPr>
            </a:lvl1pPr>
          </a:lstStyle>
          <a:p>
            <a:r>
              <a:t>STEP 6</a:t>
            </a:r>
          </a:p>
        </p:txBody>
      </p:sp>
      <p:sp>
        <p:nvSpPr>
          <p:cNvPr id="309"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t>First Principle </a:t>
            </a:r>
          </a:p>
        </p:txBody>
      </p:sp>
      <p:sp>
        <p:nvSpPr>
          <p:cNvPr id="310" name="Text 48"/>
          <p:cNvSpPr txBox="1"/>
          <p:nvPr/>
        </p:nvSpPr>
        <p:spPr>
          <a:xfrm>
            <a:off x="510744" y="1139471"/>
            <a:ext cx="7863841" cy="38704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15000"/>
              </a:lnSpc>
              <a:defRPr sz="1100" b="1">
                <a:solidFill>
                  <a:srgbClr val="1A1A2E"/>
                </a:solidFill>
              </a:defRPr>
            </a:lvl1pPr>
          </a:lstStyle>
          <a:p>
            <a:r>
              <a:rPr dirty="0"/>
              <a:t>First Principle </a:t>
            </a:r>
            <a:endParaRPr lang="en-IN" dirty="0"/>
          </a:p>
          <a:p>
            <a:endParaRPr lang="en-US" sz="900" dirty="0"/>
          </a:p>
          <a:p>
            <a:r>
              <a:rPr lang="en-US" sz="900" dirty="0"/>
              <a:t>1. Industry assumptions (things “everyone knows”) and 2. Mark each as TRUE or CONVENTION</a:t>
            </a:r>
          </a:p>
          <a:p>
            <a:r>
              <a:rPr lang="en-US" sz="900" dirty="0"/>
              <a:t>“Project status must be described in Jira‑language…”</a:t>
            </a:r>
            <a:r>
              <a:rPr lang="en-US" sz="900" b="0" dirty="0"/>
              <a:t> → </a:t>
            </a:r>
            <a:r>
              <a:rPr lang="en-US" sz="900" dirty="0"/>
              <a:t>CONVENTION</a:t>
            </a:r>
            <a:endParaRPr lang="en-US" sz="900" b="0" dirty="0"/>
          </a:p>
          <a:p>
            <a:pPr lvl="1"/>
            <a:r>
              <a:rPr lang="en-US" sz="900" dirty="0"/>
              <a:t>It exists because Jira is the default tracking tool, not because tickets are the only way to explain progress.</a:t>
            </a:r>
          </a:p>
          <a:p>
            <a:r>
              <a:rPr lang="en-US" sz="900" dirty="0"/>
              <a:t>“Non‑tech stakeholders need to ‘see the system’…”</a:t>
            </a:r>
            <a:r>
              <a:rPr lang="en-US" sz="900" b="0" dirty="0"/>
              <a:t> → </a:t>
            </a:r>
            <a:r>
              <a:rPr lang="en-US" sz="900" dirty="0"/>
              <a:t>CONVENTION</a:t>
            </a:r>
            <a:endParaRPr lang="en-US" sz="900" b="0" dirty="0"/>
          </a:p>
          <a:p>
            <a:pPr lvl="1"/>
            <a:r>
              <a:rPr lang="en-US" sz="900" dirty="0"/>
              <a:t>They actually need to see </a:t>
            </a:r>
            <a:r>
              <a:rPr lang="en-US" sz="900" b="1" dirty="0"/>
              <a:t>business impact</a:t>
            </a:r>
            <a:r>
              <a:rPr lang="en-US" sz="900" dirty="0"/>
              <a:t>, not a UI identical to the dev tool.</a:t>
            </a:r>
          </a:p>
          <a:p>
            <a:r>
              <a:rPr lang="en-US" sz="900" dirty="0"/>
              <a:t>“Clear status updates must be written by a human PM…”</a:t>
            </a:r>
            <a:r>
              <a:rPr lang="en-US" sz="900" b="0" dirty="0"/>
              <a:t> → </a:t>
            </a:r>
            <a:r>
              <a:rPr lang="en-US" sz="900" dirty="0"/>
              <a:t>CONVENTION</a:t>
            </a:r>
            <a:endParaRPr lang="en-US" sz="900" b="0" dirty="0"/>
          </a:p>
          <a:p>
            <a:pPr lvl="1"/>
            <a:r>
              <a:rPr lang="en-US" sz="900" dirty="0"/>
              <a:t>A human is one way to create clarity, but not the only way; AI can generate consistent, data‑driven narratives.</a:t>
            </a:r>
          </a:p>
          <a:p>
            <a:r>
              <a:rPr lang="en-US" sz="900" dirty="0"/>
              <a:t>“One dashboard or one view is enough for all stakeholders…”</a:t>
            </a:r>
            <a:r>
              <a:rPr lang="en-US" sz="900" b="0" dirty="0"/>
              <a:t> → </a:t>
            </a:r>
            <a:r>
              <a:rPr lang="en-US" sz="900" dirty="0"/>
              <a:t>CONVENTION</a:t>
            </a:r>
            <a:endParaRPr lang="en-US" sz="900" b="0" dirty="0"/>
          </a:p>
          <a:p>
            <a:pPr lvl="1"/>
            <a:r>
              <a:rPr lang="en-US" sz="900" dirty="0"/>
              <a:t>Different roles have different mental models; forcing one view is a UI shortcut, not a law.</a:t>
            </a:r>
          </a:p>
          <a:p>
            <a:r>
              <a:rPr lang="en-US" sz="900" dirty="0"/>
              <a:t>“If the schedule is green, leadership is happy…”</a:t>
            </a:r>
            <a:r>
              <a:rPr lang="en-US" sz="900" b="0" dirty="0"/>
              <a:t> → </a:t>
            </a:r>
            <a:r>
              <a:rPr lang="en-US" sz="900" dirty="0"/>
              <a:t>CONVENTION</a:t>
            </a:r>
            <a:endParaRPr lang="en-US" sz="900" b="0" dirty="0"/>
          </a:p>
          <a:p>
            <a:pPr lvl="1"/>
            <a:r>
              <a:rPr lang="en-US" sz="900" dirty="0"/>
              <a:t>In reality, “green schedule + hidden risk” is the most dangerous state; the real need is </a:t>
            </a:r>
            <a:r>
              <a:rPr lang="en-US" sz="900" b="1" dirty="0"/>
              <a:t>risk‑aware simplification</a:t>
            </a:r>
            <a:r>
              <a:rPr lang="en-US" sz="900" dirty="0"/>
              <a:t>, not just color‑coding.</a:t>
            </a:r>
          </a:p>
          <a:p>
            <a:endParaRPr lang="en-US" sz="900" dirty="0"/>
          </a:p>
          <a:p>
            <a:r>
              <a:rPr lang="en-US" sz="900" dirty="0"/>
              <a:t>3. Irreducible truth (after removing conventions)</a:t>
            </a:r>
          </a:p>
          <a:p>
            <a:r>
              <a:rPr lang="en-US" sz="900" dirty="0"/>
              <a:t>IRREDUCIBLE TRUTH:</a:t>
            </a:r>
            <a:br>
              <a:rPr lang="en-US" sz="900" b="0" dirty="0"/>
            </a:br>
            <a:r>
              <a:rPr lang="en-US" sz="900" b="0" dirty="0"/>
              <a:t>Non‑technical stakeholders ultimately need </a:t>
            </a:r>
            <a:r>
              <a:rPr lang="en-US" sz="900" dirty="0"/>
              <a:t>a simple, accurate, risk‑aware explanation of progress that matches their mental model and business context</a:t>
            </a:r>
            <a:r>
              <a:rPr lang="en-US" sz="900" b="0" dirty="0"/>
              <a:t>, not a copy of the technical tool’s UI.</a:t>
            </a:r>
          </a:p>
          <a:p>
            <a:r>
              <a:rPr lang="en-US" sz="900" b="0" dirty="0"/>
              <a:t>Translated into product language:</a:t>
            </a:r>
          </a:p>
          <a:p>
            <a:r>
              <a:rPr lang="en-US" sz="900" dirty="0"/>
              <a:t>They do not need to know Jira; they need to know what matters to them.</a:t>
            </a:r>
            <a:endParaRPr lang="en-US" sz="900" b="0" dirty="0"/>
          </a:p>
          <a:p>
            <a:r>
              <a:rPr lang="en-US" sz="900" dirty="0"/>
              <a:t>They do not need to read every card; they need to see the few levers that can change outcomes.</a:t>
            </a:r>
            <a:endParaRPr lang="en-US" sz="900" b="0" dirty="0"/>
          </a:p>
          <a:p>
            <a:r>
              <a:rPr lang="en-US" sz="900" dirty="0"/>
              <a:t>They do not need to trust a PM’s narrative; they need a system that turns data‑driven logic into plain‑language truth.</a:t>
            </a:r>
            <a:endParaRPr lang="en-US" sz="900" b="0" dirty="0"/>
          </a:p>
          <a:p>
            <a:r>
              <a:rPr lang="en-US" sz="900" b="0" dirty="0"/>
              <a:t>Everything else (Jira‑style views, generic dashboards, one‑size‑fits‑all summaries) is convention, not first‑principle</a:t>
            </a:r>
          </a:p>
          <a:p>
            <a:r>
              <a:rPr dirty="0"/>
              <a:t> </a:t>
            </a:r>
          </a:p>
        </p:txBody>
      </p:sp>
      <p:sp>
        <p:nvSpPr>
          <p:cNvPr id="311"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312"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0"/>
          <p:cNvSpPr/>
          <p:nvPr/>
        </p:nvSpPr>
        <p:spPr>
          <a:xfrm>
            <a:off x="0" y="-1"/>
            <a:ext cx="9144000" cy="45722"/>
          </a:xfrm>
          <a:prstGeom prst="rect">
            <a:avLst/>
          </a:prstGeom>
          <a:solidFill>
            <a:srgbClr val="2563EB"/>
          </a:solidFill>
          <a:ln w="12700">
            <a:miter lim="400000"/>
          </a:ln>
        </p:spPr>
        <p:txBody>
          <a:bodyPr lIns="45719" rIns="45719"/>
          <a:lstStyle/>
          <a:p>
            <a:endParaRPr/>
          </a:p>
        </p:txBody>
      </p:sp>
      <p:sp>
        <p:nvSpPr>
          <p:cNvPr id="315" name="Text 1"/>
          <p:cNvSpPr txBox="1"/>
          <p:nvPr/>
        </p:nvSpPr>
        <p:spPr>
          <a:xfrm>
            <a:off x="502919" y="182879"/>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2563EB"/>
                </a:solidFill>
              </a:defRPr>
            </a:lvl1pPr>
          </a:lstStyle>
          <a:p>
            <a:r>
              <a:t>STEP 6</a:t>
            </a:r>
          </a:p>
        </p:txBody>
      </p:sp>
      <p:sp>
        <p:nvSpPr>
          <p:cNvPr id="316"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t>JTDB</a:t>
            </a:r>
          </a:p>
        </p:txBody>
      </p:sp>
      <p:sp>
        <p:nvSpPr>
          <p:cNvPr id="317" name="Text 48"/>
          <p:cNvSpPr txBox="1"/>
          <p:nvPr/>
        </p:nvSpPr>
        <p:spPr>
          <a:xfrm>
            <a:off x="510744" y="1139471"/>
            <a:ext cx="7863841" cy="3469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115000"/>
              </a:lnSpc>
              <a:defRPr sz="1100" b="1">
                <a:solidFill>
                  <a:srgbClr val="1A1A2E"/>
                </a:solidFill>
              </a:defRPr>
            </a:lvl1pPr>
          </a:lstStyle>
          <a:p>
            <a:r>
              <a:rPr dirty="0"/>
              <a:t>JTDB</a:t>
            </a:r>
            <a:endParaRPr lang="en-IN" dirty="0"/>
          </a:p>
          <a:p>
            <a:endParaRPr lang="en-IN" dirty="0"/>
          </a:p>
          <a:p>
            <a:r>
              <a:rPr lang="en-US" sz="900" dirty="0"/>
              <a:t>1. Job Statement (both pieces together)</a:t>
            </a:r>
          </a:p>
          <a:p>
            <a:r>
              <a:rPr lang="en-US" sz="900" dirty="0"/>
              <a:t>"When I’m leading or watching a project that spans many tools, teams, and tech stacks, I want a single, simple layer that explains what’s happening, what’s at risk, and what to do next, so I can coordinate people and systems faster and make decisions with confidence without needing to live inside Jira, DevOps, or Slack."</a:t>
            </a:r>
            <a:endParaRPr lang="en-US" sz="900" b="0" dirty="0"/>
          </a:p>
          <a:p>
            <a:br>
              <a:rPr lang="en-US" sz="900" dirty="0"/>
            </a:br>
            <a:endParaRPr lang="en-US" sz="900" dirty="0"/>
          </a:p>
          <a:p>
            <a:r>
              <a:rPr lang="en-US" sz="900" dirty="0"/>
              <a:t>2. Hiring / Firing</a:t>
            </a:r>
          </a:p>
          <a:p>
            <a:r>
              <a:rPr lang="en-US" sz="900" dirty="0"/>
              <a:t>HIRING today:</a:t>
            </a:r>
            <a:endParaRPr lang="en-US" sz="900" b="0" dirty="0"/>
          </a:p>
          <a:p>
            <a:pPr lvl="1"/>
            <a:r>
              <a:rPr lang="en-US" sz="900" dirty="0"/>
              <a:t>Jira, Azure DevOps, Git, CI/CD tools, Teams/Slack, Excel, PMs, and sync calls.</a:t>
            </a:r>
          </a:p>
          <a:p>
            <a:r>
              <a:rPr lang="en-US" sz="900" dirty="0"/>
              <a:t>FIRING:</a:t>
            </a:r>
            <a:endParaRPr lang="en-US" sz="900" b="0" dirty="0"/>
          </a:p>
          <a:p>
            <a:pPr lvl="1"/>
            <a:r>
              <a:rPr lang="en-US" sz="900" dirty="0"/>
              <a:t>Tool fragmentation, manual sync‑ups, “where is the truth?” confusion, last‑minute surprises, and generic dashboards that don’t match stakeholder mental models.</a:t>
            </a:r>
          </a:p>
          <a:p>
            <a:br>
              <a:rPr lang="en-US" sz="900" dirty="0"/>
            </a:br>
            <a:endParaRPr lang="en-US" sz="900" dirty="0"/>
          </a:p>
          <a:p>
            <a:r>
              <a:rPr lang="en-US" sz="900" dirty="0"/>
              <a:t>3. REAL competition</a:t>
            </a:r>
          </a:p>
          <a:p>
            <a:r>
              <a:rPr lang="en-US" sz="900" dirty="0"/>
              <a:t>Your real competition is not Jira, Azure DevOps, or Git.</a:t>
            </a:r>
            <a:endParaRPr lang="en-US" sz="900" b="0" dirty="0"/>
          </a:p>
          <a:p>
            <a:r>
              <a:rPr lang="en-US" sz="900" b="0" dirty="0"/>
              <a:t>It is </a:t>
            </a:r>
            <a:r>
              <a:rPr lang="en-US" sz="900" dirty="0"/>
              <a:t>context‑switching, coordination tax, and decision‑making under fog</a:t>
            </a:r>
            <a:r>
              <a:rPr lang="en-US" sz="900" b="0" dirty="0"/>
              <a:t> — the time and trust lost because work is scattered across tools and people.</a:t>
            </a:r>
          </a:p>
          <a:p>
            <a:r>
              <a:rPr lang="en-US" sz="900" b="0" dirty="0"/>
              <a:t>Your engine is hired to </a:t>
            </a:r>
            <a:r>
              <a:rPr lang="en-US" sz="900" dirty="0"/>
              <a:t>replace that tax and fog with a unified AI‑driven layer that knows all the tools, explains all the roles, and coordinates what to move, when, and how.</a:t>
            </a:r>
            <a:endParaRPr lang="en-US" sz="900" b="0" dirty="0"/>
          </a:p>
          <a:p>
            <a:endParaRPr dirty="0"/>
          </a:p>
        </p:txBody>
      </p:sp>
      <p:sp>
        <p:nvSpPr>
          <p:cNvPr id="318" name="Text 18"/>
          <p:cNvSpPr txBox="1"/>
          <p:nvPr/>
        </p:nvSpPr>
        <p:spPr>
          <a:xfrm>
            <a:off x="457200" y="4927600"/>
            <a:ext cx="36576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319" name="Text 19"/>
          <p:cNvSpPr txBox="1"/>
          <p:nvPr/>
        </p:nvSpPr>
        <p:spPr>
          <a:xfrm>
            <a:off x="4103978" y="4940299"/>
            <a:ext cx="763051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Shape 0"/>
          <p:cNvSpPr/>
          <p:nvPr/>
        </p:nvSpPr>
        <p:spPr>
          <a:xfrm>
            <a:off x="0" y="-1"/>
            <a:ext cx="9144000" cy="45722"/>
          </a:xfrm>
          <a:prstGeom prst="rect">
            <a:avLst/>
          </a:prstGeom>
          <a:solidFill>
            <a:srgbClr val="059669"/>
          </a:solidFill>
          <a:ln w="12700">
            <a:miter lim="400000"/>
          </a:ln>
        </p:spPr>
        <p:txBody>
          <a:bodyPr lIns="45719" rIns="45719"/>
          <a:lstStyle/>
          <a:p>
            <a:endParaRPr/>
          </a:p>
        </p:txBody>
      </p:sp>
      <p:sp>
        <p:nvSpPr>
          <p:cNvPr id="322" name="Text 1"/>
          <p:cNvSpPr txBox="1"/>
          <p:nvPr/>
        </p:nvSpPr>
        <p:spPr>
          <a:xfrm>
            <a:off x="502919" y="182879"/>
            <a:ext cx="822962"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300">
                <a:solidFill>
                  <a:srgbClr val="059669"/>
                </a:solidFill>
              </a:defRPr>
            </a:lvl1pPr>
          </a:lstStyle>
          <a:p>
            <a:r>
              <a:t>STEP 7</a:t>
            </a:r>
          </a:p>
        </p:txBody>
      </p:sp>
      <p:sp>
        <p:nvSpPr>
          <p:cNvPr id="323" name="Text 2"/>
          <p:cNvSpPr txBox="1"/>
          <p:nvPr/>
        </p:nvSpPr>
        <p:spPr>
          <a:xfrm>
            <a:off x="502919" y="391160"/>
            <a:ext cx="8138161"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rPr dirty="0"/>
              <a:t>Frame Your Extraordinary Problem</a:t>
            </a:r>
          </a:p>
        </p:txBody>
      </p:sp>
      <p:sp>
        <p:nvSpPr>
          <p:cNvPr id="324" name="Shape 3"/>
          <p:cNvSpPr/>
          <p:nvPr/>
        </p:nvSpPr>
        <p:spPr>
          <a:xfrm>
            <a:off x="365759" y="960119"/>
            <a:ext cx="8412482" cy="502920"/>
          </a:xfrm>
          <a:prstGeom prst="rect">
            <a:avLst/>
          </a:prstGeom>
          <a:solidFill>
            <a:srgbClr val="F0FDF4"/>
          </a:solidFill>
          <a:ln w="12700">
            <a:miter lim="400000"/>
          </a:ln>
        </p:spPr>
        <p:txBody>
          <a:bodyPr lIns="45719" rIns="45719"/>
          <a:lstStyle/>
          <a:p>
            <a:endParaRPr/>
          </a:p>
        </p:txBody>
      </p:sp>
      <p:sp>
        <p:nvSpPr>
          <p:cNvPr id="325" name="Text 4"/>
          <p:cNvSpPr txBox="1"/>
          <p:nvPr/>
        </p:nvSpPr>
        <p:spPr>
          <a:xfrm>
            <a:off x="594360" y="962659"/>
            <a:ext cx="7955279"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400" b="1">
                <a:solidFill>
                  <a:srgbClr val="059669"/>
                </a:solidFill>
                <a:latin typeface="Georgia"/>
                <a:ea typeface="Georgia"/>
                <a:cs typeface="Georgia"/>
                <a:sym typeface="Georgia"/>
              </a:defRPr>
            </a:lvl1pPr>
          </a:lstStyle>
          <a:p>
            <a:r>
              <a:t>FP (what is true)  ×  JTBD (what is needed)  =  Extraordinary Problem (what should exist but doesn't)</a:t>
            </a:r>
          </a:p>
        </p:txBody>
      </p:sp>
      <p:sp>
        <p:nvSpPr>
          <p:cNvPr id="326" name="Shape 5"/>
          <p:cNvSpPr/>
          <p:nvPr/>
        </p:nvSpPr>
        <p:spPr>
          <a:xfrm>
            <a:off x="365759" y="1645920"/>
            <a:ext cx="4114801" cy="2103121"/>
          </a:xfrm>
          <a:prstGeom prst="rect">
            <a:avLst/>
          </a:prstGeom>
          <a:solidFill>
            <a:srgbClr val="F7F8FA"/>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327" name="Shape 6"/>
          <p:cNvSpPr/>
          <p:nvPr/>
        </p:nvSpPr>
        <p:spPr>
          <a:xfrm>
            <a:off x="365759" y="1645920"/>
            <a:ext cx="45721" cy="2103121"/>
          </a:xfrm>
          <a:prstGeom prst="rect">
            <a:avLst/>
          </a:prstGeom>
          <a:solidFill>
            <a:srgbClr val="059669"/>
          </a:solidFill>
          <a:ln w="12700">
            <a:miter lim="400000"/>
          </a:ln>
        </p:spPr>
        <p:txBody>
          <a:bodyPr lIns="45719" rIns="45719"/>
          <a:lstStyle/>
          <a:p>
            <a:endParaRPr/>
          </a:p>
        </p:txBody>
      </p:sp>
      <p:sp>
        <p:nvSpPr>
          <p:cNvPr id="328" name="Text 7"/>
          <p:cNvSpPr txBox="1"/>
          <p:nvPr/>
        </p:nvSpPr>
        <p:spPr>
          <a:xfrm>
            <a:off x="640079" y="1691639"/>
            <a:ext cx="365760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059669"/>
                </a:solidFill>
              </a:defRPr>
            </a:lvl1pPr>
          </a:lstStyle>
          <a:p>
            <a:r>
              <a:t>YOUR PROBLEM IS EXTRAORDINARY IF:</a:t>
            </a:r>
          </a:p>
        </p:txBody>
      </p:sp>
      <p:sp>
        <p:nvSpPr>
          <p:cNvPr id="329" name="Text 8"/>
          <p:cNvSpPr txBox="1"/>
          <p:nvPr/>
        </p:nvSpPr>
        <p:spPr>
          <a:xfrm>
            <a:off x="640079" y="1965960"/>
            <a:ext cx="3657601" cy="22419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0000"/>
              </a:lnSpc>
              <a:defRPr sz="1100" b="1">
                <a:solidFill>
                  <a:srgbClr val="1A1A2E"/>
                </a:solidFill>
              </a:defRPr>
            </a:pPr>
            <a:r>
              <a:rPr dirty="0"/>
              <a:t>✅ Non-obvious</a:t>
            </a:r>
          </a:p>
          <a:p>
            <a:pPr>
              <a:lnSpc>
                <a:spcPct val="110000"/>
              </a:lnSpc>
              <a:defRPr sz="1100" b="1">
                <a:solidFill>
                  <a:srgbClr val="1A1A2E"/>
                </a:solidFill>
              </a:defRPr>
            </a:pPr>
            <a:r>
              <a:rPr sz="900" b="0" dirty="0">
                <a:solidFill>
                  <a:srgbClr val="3D3D5C"/>
                </a:solidFill>
              </a:rPr>
              <a:t>Challenges assumptions others accept as given</a:t>
            </a:r>
          </a:p>
          <a:p>
            <a:pPr>
              <a:lnSpc>
                <a:spcPct val="110000"/>
              </a:lnSpc>
              <a:defRPr sz="1100" b="1">
                <a:solidFill>
                  <a:srgbClr val="1A1A2E"/>
                </a:solidFill>
              </a:defRPr>
            </a:pPr>
            <a:endParaRPr sz="900" b="0" dirty="0">
              <a:solidFill>
                <a:srgbClr val="3D3D5C"/>
              </a:solidFill>
            </a:endParaRPr>
          </a:p>
          <a:p>
            <a:pPr>
              <a:lnSpc>
                <a:spcPct val="110000"/>
              </a:lnSpc>
              <a:defRPr sz="1100" b="1">
                <a:solidFill>
                  <a:srgbClr val="1A1A2E"/>
                </a:solidFill>
              </a:defRPr>
            </a:pPr>
            <a:r>
              <a:rPr dirty="0"/>
              <a:t>✅ Worth 10× effort</a:t>
            </a:r>
          </a:p>
          <a:p>
            <a:pPr>
              <a:lnSpc>
                <a:spcPct val="110000"/>
              </a:lnSpc>
              <a:defRPr sz="1100" b="1">
                <a:solidFill>
                  <a:srgbClr val="1A1A2E"/>
                </a:solidFill>
              </a:defRPr>
            </a:pPr>
            <a:r>
              <a:rPr sz="900" b="0" dirty="0">
                <a:solidFill>
                  <a:srgbClr val="3D3D5C"/>
                </a:solidFill>
              </a:rPr>
              <a:t>Solving it creates disproportionate value</a:t>
            </a:r>
          </a:p>
          <a:p>
            <a:pPr>
              <a:lnSpc>
                <a:spcPct val="110000"/>
              </a:lnSpc>
              <a:defRPr sz="1100" b="1">
                <a:solidFill>
                  <a:srgbClr val="1A1A2E"/>
                </a:solidFill>
              </a:defRPr>
            </a:pPr>
            <a:endParaRPr sz="900" b="0" dirty="0">
              <a:solidFill>
                <a:srgbClr val="3D3D5C"/>
              </a:solidFill>
            </a:endParaRPr>
          </a:p>
          <a:p>
            <a:pPr>
              <a:lnSpc>
                <a:spcPct val="110000"/>
              </a:lnSpc>
              <a:defRPr sz="1100" b="1">
                <a:solidFill>
                  <a:srgbClr val="1A1A2E"/>
                </a:solidFill>
              </a:defRPr>
            </a:pPr>
            <a:r>
              <a:rPr dirty="0"/>
              <a:t>✅ Structural truth + Human validation</a:t>
            </a:r>
          </a:p>
          <a:p>
            <a:pPr>
              <a:lnSpc>
                <a:spcPct val="110000"/>
              </a:lnSpc>
              <a:defRPr sz="1100" b="1">
                <a:solidFill>
                  <a:srgbClr val="1A1A2E"/>
                </a:solidFill>
              </a:defRPr>
            </a:pPr>
            <a:r>
              <a:rPr sz="900" b="0" dirty="0">
                <a:solidFill>
                  <a:srgbClr val="3D3D5C"/>
                </a:solidFill>
              </a:rPr>
              <a:t>Has FP evidence AND JTBD evidence</a:t>
            </a:r>
          </a:p>
          <a:p>
            <a:pPr>
              <a:lnSpc>
                <a:spcPct val="110000"/>
              </a:lnSpc>
              <a:defRPr sz="1100" b="1">
                <a:solidFill>
                  <a:srgbClr val="1A1A2E"/>
                </a:solidFill>
              </a:defRPr>
            </a:pPr>
            <a:endParaRPr sz="900" b="0" dirty="0">
              <a:solidFill>
                <a:srgbClr val="3D3D5C"/>
              </a:solidFill>
            </a:endParaRPr>
          </a:p>
          <a:p>
            <a:pPr>
              <a:lnSpc>
                <a:spcPct val="110000"/>
              </a:lnSpc>
              <a:defRPr sz="1100" b="1">
                <a:solidFill>
                  <a:srgbClr val="1A1A2E"/>
                </a:solidFill>
              </a:defRPr>
            </a:pPr>
            <a:r>
              <a:rPr dirty="0"/>
              <a:t>✅ Compounding data advantage</a:t>
            </a:r>
          </a:p>
          <a:p>
            <a:pPr>
              <a:lnSpc>
                <a:spcPct val="110000"/>
              </a:lnSpc>
              <a:defRPr sz="1100" b="1">
                <a:solidFill>
                  <a:srgbClr val="1A1A2E"/>
                </a:solidFill>
              </a:defRPr>
            </a:pPr>
            <a:r>
              <a:rPr sz="900" b="0" dirty="0">
                <a:solidFill>
                  <a:srgbClr val="3D3D5C"/>
                </a:solidFill>
              </a:rPr>
              <a:t>Gets better with usage — flywheel effect</a:t>
            </a:r>
          </a:p>
        </p:txBody>
      </p:sp>
      <p:sp>
        <p:nvSpPr>
          <p:cNvPr id="330" name="Shape 9"/>
          <p:cNvSpPr/>
          <p:nvPr/>
        </p:nvSpPr>
        <p:spPr>
          <a:xfrm>
            <a:off x="4663440" y="1645920"/>
            <a:ext cx="4114801" cy="2103121"/>
          </a:xfrm>
          <a:prstGeom prst="rect">
            <a:avLst/>
          </a:prstGeom>
          <a:solidFill>
            <a:srgbClr val="FFFBEB"/>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331" name="Shape 10"/>
          <p:cNvSpPr/>
          <p:nvPr/>
        </p:nvSpPr>
        <p:spPr>
          <a:xfrm>
            <a:off x="4663440" y="1645920"/>
            <a:ext cx="45721" cy="2103121"/>
          </a:xfrm>
          <a:prstGeom prst="rect">
            <a:avLst/>
          </a:prstGeom>
          <a:solidFill>
            <a:srgbClr val="D97706"/>
          </a:solidFill>
          <a:ln w="12700">
            <a:miter lim="400000"/>
          </a:ln>
        </p:spPr>
        <p:txBody>
          <a:bodyPr lIns="45719" rIns="45719"/>
          <a:lstStyle/>
          <a:p>
            <a:endParaRPr/>
          </a:p>
        </p:txBody>
      </p:sp>
      <p:sp>
        <p:nvSpPr>
          <p:cNvPr id="332" name="Text 11"/>
          <p:cNvSpPr txBox="1"/>
          <p:nvPr/>
        </p:nvSpPr>
        <p:spPr>
          <a:xfrm>
            <a:off x="4937760" y="1691639"/>
            <a:ext cx="3657601"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b="1" spc="200">
                <a:solidFill>
                  <a:srgbClr val="D97706"/>
                </a:solidFill>
              </a:defRPr>
            </a:lvl1pPr>
          </a:lstStyle>
          <a:p>
            <a:r>
              <a:t>EXAMPLE OUTPUT</a:t>
            </a:r>
          </a:p>
        </p:txBody>
      </p:sp>
      <p:sp>
        <p:nvSpPr>
          <p:cNvPr id="333" name="Text 12"/>
          <p:cNvSpPr txBox="1"/>
          <p:nvPr/>
        </p:nvSpPr>
        <p:spPr>
          <a:xfrm>
            <a:off x="4937760" y="1965960"/>
            <a:ext cx="3657601" cy="20851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nSpc>
                <a:spcPct val="115000"/>
              </a:lnSpc>
              <a:defRPr sz="1000" i="1">
                <a:solidFill>
                  <a:srgbClr val="3D3D5C"/>
                </a:solidFill>
              </a:defRPr>
            </a:pPr>
            <a:r>
              <a:rPr dirty="0"/>
              <a:t>"The $15B customer support industry is built on a false assumption: that support is about answering questions faster.</a:t>
            </a:r>
          </a:p>
          <a:p>
            <a:pPr>
              <a:lnSpc>
                <a:spcPct val="115000"/>
              </a:lnSpc>
              <a:defRPr sz="1000" i="1">
                <a:solidFill>
                  <a:srgbClr val="3D3D5C"/>
                </a:solidFill>
              </a:defRPr>
            </a:pPr>
            <a:endParaRPr dirty="0"/>
          </a:p>
          <a:p>
            <a:pPr>
              <a:lnSpc>
                <a:spcPct val="115000"/>
              </a:lnSpc>
              <a:defRPr sz="1000" i="1">
                <a:solidFill>
                  <a:srgbClr val="3D3D5C"/>
                </a:solidFill>
              </a:defRPr>
            </a:pPr>
            <a:r>
              <a:rPr i="0" dirty="0">
                <a:solidFill>
                  <a:srgbClr val="2563EB"/>
                </a:solidFill>
              </a:rPr>
              <a:t>First Principles reveals 80% of issues are preventable product failures.</a:t>
            </a:r>
          </a:p>
          <a:p>
            <a:pPr>
              <a:lnSpc>
                <a:spcPct val="115000"/>
              </a:lnSpc>
              <a:defRPr sz="1000" i="1">
                <a:solidFill>
                  <a:srgbClr val="3D3D5C"/>
                </a:solidFill>
              </a:defRPr>
            </a:pPr>
            <a:endParaRPr i="0" dirty="0">
              <a:solidFill>
                <a:srgbClr val="2563EB"/>
              </a:solidFill>
            </a:endParaRPr>
          </a:p>
          <a:p>
            <a:pPr>
              <a:lnSpc>
                <a:spcPct val="115000"/>
              </a:lnSpc>
              <a:defRPr sz="1000" i="1">
                <a:solidFill>
                  <a:srgbClr val="3D3D5C"/>
                </a:solidFill>
              </a:defRPr>
            </a:pPr>
            <a:r>
              <a:rPr i="0" dirty="0">
                <a:solidFill>
                  <a:srgbClr val="7C3AED"/>
                </a:solidFill>
              </a:rPr>
              <a:t>JTBD reveals customers don't want support — they want problems to not exist.</a:t>
            </a:r>
          </a:p>
          <a:p>
            <a:pPr>
              <a:lnSpc>
                <a:spcPct val="115000"/>
              </a:lnSpc>
              <a:defRPr sz="1000" i="1">
                <a:solidFill>
                  <a:srgbClr val="3D3D5C"/>
                </a:solidFill>
              </a:defRPr>
            </a:pPr>
            <a:endParaRPr i="0" dirty="0">
              <a:solidFill>
                <a:srgbClr val="7C3AED"/>
              </a:solidFill>
            </a:endParaRPr>
          </a:p>
          <a:p>
            <a:pPr>
              <a:lnSpc>
                <a:spcPct val="115000"/>
              </a:lnSpc>
              <a:defRPr sz="1000" i="1">
                <a:solidFill>
                  <a:srgbClr val="3D3D5C"/>
                </a:solidFill>
              </a:defRPr>
            </a:pPr>
            <a:r>
              <a:rPr b="1" i="0" dirty="0">
                <a:solidFill>
                  <a:srgbClr val="059669"/>
                </a:solidFill>
              </a:rPr>
              <a:t>How do you build a product that resolves issues before the customer is aware of them?"</a:t>
            </a:r>
          </a:p>
        </p:txBody>
      </p:sp>
      <p:sp>
        <p:nvSpPr>
          <p:cNvPr id="334" name="Shape 13"/>
          <p:cNvSpPr/>
          <p:nvPr/>
        </p:nvSpPr>
        <p:spPr>
          <a:xfrm>
            <a:off x="365759" y="4351806"/>
            <a:ext cx="8412482" cy="777241"/>
          </a:xfrm>
          <a:prstGeom prst="rect">
            <a:avLst/>
          </a:prstGeom>
          <a:solidFill>
            <a:srgbClr val="FEF2F2"/>
          </a:solidFill>
          <a:ln w="12700">
            <a:miter lim="400000"/>
          </a:ln>
          <a:effectLst>
            <a:outerShdw blurRad="38100" dist="12700" dir="8100000" rotWithShape="0">
              <a:srgbClr val="000000">
                <a:alpha val="8000"/>
              </a:srgbClr>
            </a:outerShdw>
          </a:effectLst>
        </p:spPr>
        <p:txBody>
          <a:bodyPr lIns="45719" rIns="45719"/>
          <a:lstStyle/>
          <a:p>
            <a:endParaRPr/>
          </a:p>
        </p:txBody>
      </p:sp>
      <p:sp>
        <p:nvSpPr>
          <p:cNvPr id="335" name="Shape 14"/>
          <p:cNvSpPr/>
          <p:nvPr/>
        </p:nvSpPr>
        <p:spPr>
          <a:xfrm>
            <a:off x="365759" y="4351806"/>
            <a:ext cx="45721" cy="777241"/>
          </a:xfrm>
          <a:prstGeom prst="rect">
            <a:avLst/>
          </a:prstGeom>
          <a:solidFill>
            <a:srgbClr val="DC2626"/>
          </a:solidFill>
          <a:ln w="12700">
            <a:miter lim="400000"/>
          </a:ln>
        </p:spPr>
        <p:txBody>
          <a:bodyPr lIns="45719" rIns="45719"/>
          <a:lstStyle/>
          <a:p>
            <a:endParaRPr/>
          </a:p>
        </p:txBody>
      </p:sp>
      <p:sp>
        <p:nvSpPr>
          <p:cNvPr id="336" name="Text 15"/>
          <p:cNvSpPr txBox="1"/>
          <p:nvPr/>
        </p:nvSpPr>
        <p:spPr>
          <a:xfrm>
            <a:off x="640079" y="4482616"/>
            <a:ext cx="7863842" cy="5156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lnSpc>
                <a:spcPct val="120000"/>
              </a:lnSpc>
              <a:defRPr sz="1000" b="1">
                <a:solidFill>
                  <a:srgbClr val="DC2626"/>
                </a:solidFill>
              </a:defRPr>
            </a:pPr>
            <a:r>
              <a:t>❌  NOT extraordinary: </a:t>
            </a:r>
            <a:r>
              <a:rPr b="0">
                <a:solidFill>
                  <a:srgbClr val="3D3D5C"/>
                </a:solidFill>
              </a:rPr>
              <a:t>"Make support 10% faster" / "Add AI chatbot" / "Reduce ticket volume"</a:t>
            </a:r>
          </a:p>
          <a:p>
            <a:pPr>
              <a:lnSpc>
                <a:spcPct val="120000"/>
              </a:lnSpc>
              <a:defRPr sz="1000" b="1">
                <a:solidFill>
                  <a:srgbClr val="DC2626"/>
                </a:solidFill>
              </a:defRPr>
            </a:pPr>
            <a:r>
              <a:rPr b="0" i="1">
                <a:solidFill>
                  <a:srgbClr val="6B7280"/>
                </a:solidFill>
              </a:rPr>
              <a:t>These optimize the EXISTING system. An extraordinary problem questions whether the system should exist at all.</a:t>
            </a:r>
          </a:p>
        </p:txBody>
      </p:sp>
      <p:sp>
        <p:nvSpPr>
          <p:cNvPr id="337" name="Text 16"/>
          <p:cNvSpPr txBox="1"/>
          <p:nvPr/>
        </p:nvSpPr>
        <p:spPr>
          <a:xfrm>
            <a:off x="320040" y="4844700"/>
            <a:ext cx="8503920" cy="1861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700">
                <a:solidFill>
                  <a:srgbClr val="9CA3AF"/>
                </a:solidFill>
              </a:defRPr>
            </a:lvl1pPr>
          </a:lstStyle>
          <a:p>
            <a:r>
              <a:t>Session 2 Assignment  |  Innovation-Strategy Funnel  |  CTO Program Batch 5  |  IIT Kanpur</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73198-1E2B-84E9-B1B4-650209966EC4}"/>
            </a:ext>
          </a:extLst>
        </p:cNvPr>
        <p:cNvGrpSpPr/>
        <p:nvPr/>
      </p:nvGrpSpPr>
      <p:grpSpPr>
        <a:xfrm>
          <a:off x="0" y="0"/>
          <a:ext cx="0" cy="0"/>
          <a:chOff x="0" y="0"/>
          <a:chExt cx="0" cy="0"/>
        </a:xfrm>
      </p:grpSpPr>
      <p:sp>
        <p:nvSpPr>
          <p:cNvPr id="339" name="Shape 0">
            <a:extLst>
              <a:ext uri="{FF2B5EF4-FFF2-40B4-BE49-F238E27FC236}">
                <a16:creationId xmlns:a16="http://schemas.microsoft.com/office/drawing/2014/main" id="{2E7946D4-7B22-7B9A-6F4E-83D4B051C9D3}"/>
              </a:ext>
            </a:extLst>
          </p:cNvPr>
          <p:cNvSpPr/>
          <p:nvPr/>
        </p:nvSpPr>
        <p:spPr>
          <a:xfrm>
            <a:off x="0" y="-1"/>
            <a:ext cx="9144000" cy="45722"/>
          </a:xfrm>
          <a:prstGeom prst="rect">
            <a:avLst/>
          </a:prstGeom>
          <a:solidFill>
            <a:srgbClr val="2563EB"/>
          </a:solidFill>
          <a:ln w="12700">
            <a:miter lim="400000"/>
          </a:ln>
        </p:spPr>
        <p:txBody>
          <a:bodyPr lIns="45719" rIns="45719"/>
          <a:lstStyle/>
          <a:p>
            <a:endParaRPr/>
          </a:p>
        </p:txBody>
      </p:sp>
      <p:sp>
        <p:nvSpPr>
          <p:cNvPr id="340" name="Text 1">
            <a:extLst>
              <a:ext uri="{FF2B5EF4-FFF2-40B4-BE49-F238E27FC236}">
                <a16:creationId xmlns:a16="http://schemas.microsoft.com/office/drawing/2014/main" id="{FB4BA864-5D3C-6B81-76E2-9174624B3F25}"/>
              </a:ext>
            </a:extLst>
          </p:cNvPr>
          <p:cNvSpPr txBox="1"/>
          <p:nvPr/>
        </p:nvSpPr>
        <p:spPr>
          <a:xfrm>
            <a:off x="502919" y="182879"/>
            <a:ext cx="822962" cy="2285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000" b="1" spc="300">
                <a:solidFill>
                  <a:srgbClr val="2563EB"/>
                </a:solidFill>
              </a:defRPr>
            </a:lvl1pPr>
          </a:lstStyle>
          <a:p>
            <a:r>
              <a:t>STEP 7</a:t>
            </a:r>
          </a:p>
        </p:txBody>
      </p:sp>
      <p:sp>
        <p:nvSpPr>
          <p:cNvPr id="341" name="Text 2">
            <a:extLst>
              <a:ext uri="{FF2B5EF4-FFF2-40B4-BE49-F238E27FC236}">
                <a16:creationId xmlns:a16="http://schemas.microsoft.com/office/drawing/2014/main" id="{DEE6AF69-FEE0-1613-9624-DE7E90E7406E}"/>
              </a:ext>
            </a:extLst>
          </p:cNvPr>
          <p:cNvSpPr txBox="1"/>
          <p:nvPr/>
        </p:nvSpPr>
        <p:spPr>
          <a:xfrm>
            <a:off x="502919" y="163028"/>
            <a:ext cx="8138161" cy="9541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2800" b="1">
                <a:solidFill>
                  <a:srgbClr val="1A1A2E"/>
                </a:solidFill>
                <a:latin typeface="Georgia"/>
                <a:ea typeface="Georgia"/>
                <a:cs typeface="Georgia"/>
                <a:sym typeface="Georgia"/>
              </a:defRPr>
            </a:lvl1pPr>
          </a:lstStyle>
          <a:p>
            <a:r>
              <a:rPr dirty="0"/>
              <a:t>Frame Your Extraordinary Problem</a:t>
            </a:r>
            <a:r>
              <a:rPr lang="en-IN" dirty="0"/>
              <a:t> – </a:t>
            </a:r>
            <a:r>
              <a:rPr lang="en-IN" dirty="0" err="1"/>
              <a:t>stmt</a:t>
            </a:r>
            <a:r>
              <a:rPr lang="en-IN" dirty="0"/>
              <a:t> 2</a:t>
            </a:r>
            <a:endParaRPr dirty="0"/>
          </a:p>
        </p:txBody>
      </p:sp>
      <p:sp>
        <p:nvSpPr>
          <p:cNvPr id="342" name="Text 48">
            <a:extLst>
              <a:ext uri="{FF2B5EF4-FFF2-40B4-BE49-F238E27FC236}">
                <a16:creationId xmlns:a16="http://schemas.microsoft.com/office/drawing/2014/main" id="{4083B498-C065-B1B4-2BA8-B0EC102FE458}"/>
              </a:ext>
            </a:extLst>
          </p:cNvPr>
          <p:cNvSpPr txBox="1"/>
          <p:nvPr/>
        </p:nvSpPr>
        <p:spPr>
          <a:xfrm>
            <a:off x="510744" y="1139471"/>
            <a:ext cx="7863841" cy="37566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15000"/>
              </a:lnSpc>
              <a:defRPr sz="1100" b="1">
                <a:solidFill>
                  <a:srgbClr val="1A1A2E"/>
                </a:solidFill>
              </a:defRPr>
            </a:lvl1pPr>
          </a:lstStyle>
          <a:p>
            <a:r>
              <a:rPr sz="1600" dirty="0"/>
              <a:t>Your Extraordinary Problem</a:t>
            </a:r>
            <a:endParaRPr lang="en-IN" sz="1600" dirty="0"/>
          </a:p>
          <a:p>
            <a:r>
              <a:rPr lang="en-US" sz="1600" dirty="0"/>
              <a:t>False Assumption:</a:t>
            </a:r>
            <a:r>
              <a:rPr lang="en-US" sz="1600" b="0" dirty="0"/>
              <a:t> The project delivery industry assumes that visibility creates alignment and that people will self-correct once enough status is available.</a:t>
            </a:r>
          </a:p>
          <a:p>
            <a:br>
              <a:rPr lang="en-US" sz="1600" dirty="0"/>
            </a:br>
            <a:r>
              <a:rPr lang="en-US" sz="1600" dirty="0"/>
              <a:t>First Principles:</a:t>
            </a:r>
            <a:r>
              <a:rPr lang="en-US" sz="1600" b="0" dirty="0"/>
              <a:t> In reality, projects fail because execution gaps, skill gaps, support gaps, and decision delays are hidden until they become costly.</a:t>
            </a:r>
          </a:p>
          <a:p>
            <a:br>
              <a:rPr lang="en-US" sz="1600" dirty="0"/>
            </a:br>
            <a:r>
              <a:rPr lang="en-US" sz="1600" dirty="0"/>
              <a:t>JTBD:</a:t>
            </a:r>
            <a:r>
              <a:rPr lang="en-US" sz="1600" b="0" dirty="0"/>
              <a:t> Coordinators, team members, and stakeholders are hiring a system to know what matters next, who is stuck, where help is missing, and how to intervene before delay spreads.</a:t>
            </a:r>
          </a:p>
          <a:p>
            <a:br>
              <a:rPr lang="en-US" sz="1600" dirty="0"/>
            </a:br>
            <a:r>
              <a:rPr lang="en-US" sz="1600" dirty="0">
                <a:highlight>
                  <a:srgbClr val="FFFF00"/>
                </a:highlight>
              </a:rPr>
              <a:t>Problem Statement:</a:t>
            </a:r>
            <a:r>
              <a:rPr lang="en-US" sz="1600" b="0" dirty="0">
                <a:highlight>
                  <a:srgbClr val="FFFF00"/>
                </a:highlight>
              </a:rPr>
              <a:t> How do we build an AI orchestration engine that continuously detects hidden execution gaps, gives each person the exact next step, and shows every stakeholder a clear, real-time view of project health, risk, and progress?</a:t>
            </a:r>
            <a:endParaRPr sz="1600" dirty="0">
              <a:highlight>
                <a:srgbClr val="FFFF00"/>
              </a:highlight>
            </a:endParaRPr>
          </a:p>
        </p:txBody>
      </p:sp>
      <p:sp>
        <p:nvSpPr>
          <p:cNvPr id="343" name="Text 18">
            <a:extLst>
              <a:ext uri="{FF2B5EF4-FFF2-40B4-BE49-F238E27FC236}">
                <a16:creationId xmlns:a16="http://schemas.microsoft.com/office/drawing/2014/main" id="{546E6774-10B2-BC58-3BD1-1F415C2E44B2}"/>
              </a:ext>
            </a:extLst>
          </p:cNvPr>
          <p:cNvSpPr txBox="1"/>
          <p:nvPr/>
        </p:nvSpPr>
        <p:spPr>
          <a:xfrm>
            <a:off x="457200" y="4927600"/>
            <a:ext cx="3657600"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000" b="1" spc="200">
                <a:solidFill>
                  <a:srgbClr val="A6822F"/>
                </a:solidFill>
                <a:latin typeface="Consolas"/>
                <a:ea typeface="Consolas"/>
                <a:cs typeface="Consolas"/>
                <a:sym typeface="Consolas"/>
              </a:defRPr>
            </a:pPr>
            <a:r>
              <a:t>IIT Roorkee - Session by </a:t>
            </a:r>
            <a:r>
              <a:rPr u="sng">
                <a:solidFill>
                  <a:srgbClr val="0563C1"/>
                </a:solidFill>
                <a:uFill>
                  <a:solidFill>
                    <a:srgbClr val="0563C1"/>
                  </a:solidFill>
                </a:uFill>
                <a:hlinkClick r:id="rId2"/>
              </a:rPr>
              <a:t>Suchit</a:t>
            </a:r>
            <a:r>
              <a:t> </a:t>
            </a:r>
          </a:p>
        </p:txBody>
      </p:sp>
      <p:sp>
        <p:nvSpPr>
          <p:cNvPr id="344" name="Text 19">
            <a:extLst>
              <a:ext uri="{FF2B5EF4-FFF2-40B4-BE49-F238E27FC236}">
                <a16:creationId xmlns:a16="http://schemas.microsoft.com/office/drawing/2014/main" id="{6E008242-AAEE-F2BE-7AD7-E6655DAD55F7}"/>
              </a:ext>
            </a:extLst>
          </p:cNvPr>
          <p:cNvSpPr txBox="1"/>
          <p:nvPr/>
        </p:nvSpPr>
        <p:spPr>
          <a:xfrm>
            <a:off x="4103978" y="4940299"/>
            <a:ext cx="7630518"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600" spc="133">
                <a:solidFill>
                  <a:srgbClr val="6B6B6B"/>
                </a:solidFill>
                <a:latin typeface="Consolas"/>
                <a:ea typeface="Consolas"/>
                <a:cs typeface="Consolas"/>
                <a:sym typeface="Consolas"/>
              </a:defRPr>
            </a:lvl1pPr>
          </a:lstStyle>
          <a:p>
            <a:r>
              <a:t>PROPRIETARY &amp; CONFIDENTIAL · © AIWithSuchit 2026 · Sharing, copying, printing, or distribution is strictly prohibited</a:t>
            </a:r>
          </a:p>
        </p:txBody>
      </p:sp>
    </p:spTree>
    <p:extLst>
      <p:ext uri="{BB962C8B-B14F-4D97-AF65-F5344CB8AC3E}">
        <p14:creationId xmlns:p14="http://schemas.microsoft.com/office/powerpoint/2010/main" val="179226089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346" name="Text 0"/>
          <p:cNvSpPr txBox="1"/>
          <p:nvPr/>
        </p:nvSpPr>
        <p:spPr>
          <a:xfrm>
            <a:off x="594360" y="298626"/>
            <a:ext cx="7955279" cy="225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100" spc="500">
                <a:solidFill>
                  <a:srgbClr val="D97706"/>
                </a:solidFill>
              </a:defRPr>
            </a:lvl1pPr>
          </a:lstStyle>
          <a:p>
            <a:r>
              <a:t>YOUR SUBMISSION</a:t>
            </a:r>
          </a:p>
        </p:txBody>
      </p:sp>
      <p:sp>
        <p:nvSpPr>
          <p:cNvPr id="347" name="Text 1"/>
          <p:cNvSpPr txBox="1"/>
          <p:nvPr/>
        </p:nvSpPr>
        <p:spPr>
          <a:xfrm>
            <a:off x="594360" y="594360"/>
            <a:ext cx="7955279" cy="548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3200" b="1">
                <a:solidFill>
                  <a:srgbClr val="FFFFFF"/>
                </a:solidFill>
                <a:latin typeface="Georgia"/>
                <a:ea typeface="Georgia"/>
                <a:cs typeface="Georgia"/>
                <a:sym typeface="Georgia"/>
              </a:defRPr>
            </a:lvl1pPr>
          </a:lstStyle>
          <a:p>
            <a:r>
              <a:t>The Complete Journey</a:t>
            </a:r>
          </a:p>
        </p:txBody>
      </p:sp>
      <p:sp>
        <p:nvSpPr>
          <p:cNvPr id="348" name="Shape 2"/>
          <p:cNvSpPr/>
          <p:nvPr/>
        </p:nvSpPr>
        <p:spPr>
          <a:xfrm>
            <a:off x="457200" y="1280160"/>
            <a:ext cx="8229600" cy="457201"/>
          </a:xfrm>
          <a:prstGeom prst="rect">
            <a:avLst/>
          </a:prstGeom>
          <a:solidFill>
            <a:srgbClr val="252547"/>
          </a:solidFill>
          <a:ln w="12700">
            <a:miter lim="400000"/>
          </a:ln>
        </p:spPr>
        <p:txBody>
          <a:bodyPr lIns="45719" rIns="45719"/>
          <a:lstStyle/>
          <a:p>
            <a:endParaRPr/>
          </a:p>
        </p:txBody>
      </p:sp>
      <p:sp>
        <p:nvSpPr>
          <p:cNvPr id="349" name="Shape 3"/>
          <p:cNvSpPr/>
          <p:nvPr/>
        </p:nvSpPr>
        <p:spPr>
          <a:xfrm>
            <a:off x="457200" y="1280160"/>
            <a:ext cx="45721" cy="457201"/>
          </a:xfrm>
          <a:prstGeom prst="rect">
            <a:avLst/>
          </a:prstGeom>
          <a:solidFill>
            <a:srgbClr val="6B7280"/>
          </a:solidFill>
          <a:ln w="12700">
            <a:miter lim="400000"/>
          </a:ln>
        </p:spPr>
        <p:txBody>
          <a:bodyPr lIns="45719" rIns="45719"/>
          <a:lstStyle/>
          <a:p>
            <a:endParaRPr/>
          </a:p>
        </p:txBody>
      </p:sp>
      <p:sp>
        <p:nvSpPr>
          <p:cNvPr id="350" name="Shape 4"/>
          <p:cNvSpPr/>
          <p:nvPr/>
        </p:nvSpPr>
        <p:spPr>
          <a:xfrm>
            <a:off x="640080" y="1344167"/>
            <a:ext cx="329185" cy="329185"/>
          </a:xfrm>
          <a:prstGeom prst="ellipse">
            <a:avLst/>
          </a:prstGeom>
          <a:solidFill>
            <a:srgbClr val="6B7280"/>
          </a:solidFill>
          <a:ln w="12700">
            <a:miter lim="400000"/>
          </a:ln>
        </p:spPr>
        <p:txBody>
          <a:bodyPr lIns="45719" rIns="45719"/>
          <a:lstStyle/>
          <a:p>
            <a:endParaRPr/>
          </a:p>
        </p:txBody>
      </p:sp>
      <p:sp>
        <p:nvSpPr>
          <p:cNvPr id="351" name="Text 5"/>
          <p:cNvSpPr txBox="1"/>
          <p:nvPr/>
        </p:nvSpPr>
        <p:spPr>
          <a:xfrm>
            <a:off x="685800" y="1367789"/>
            <a:ext cx="237745" cy="281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300" b="1">
                <a:solidFill>
                  <a:srgbClr val="FFFFFF"/>
                </a:solidFill>
                <a:latin typeface="Georgia"/>
                <a:ea typeface="Georgia"/>
                <a:cs typeface="Georgia"/>
                <a:sym typeface="Georgia"/>
              </a:defRPr>
            </a:lvl1pPr>
          </a:lstStyle>
          <a:p>
            <a:r>
              <a:t>1</a:t>
            </a:r>
          </a:p>
        </p:txBody>
      </p:sp>
      <p:sp>
        <p:nvSpPr>
          <p:cNvPr id="352" name="Text 6"/>
          <p:cNvSpPr txBox="1"/>
          <p:nvPr/>
        </p:nvSpPr>
        <p:spPr>
          <a:xfrm>
            <a:off x="1143000" y="1374139"/>
            <a:ext cx="246888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FFFFFF"/>
                </a:solidFill>
                <a:latin typeface="Georgia"/>
                <a:ea typeface="Georgia"/>
                <a:cs typeface="Georgia"/>
                <a:sym typeface="Georgia"/>
              </a:defRPr>
            </a:lvl1pPr>
          </a:lstStyle>
          <a:p>
            <a:r>
              <a:t>Original Problem</a:t>
            </a:r>
          </a:p>
        </p:txBody>
      </p:sp>
      <p:sp>
        <p:nvSpPr>
          <p:cNvPr id="353" name="Text 7"/>
          <p:cNvSpPr txBox="1"/>
          <p:nvPr/>
        </p:nvSpPr>
        <p:spPr>
          <a:xfrm>
            <a:off x="3794760" y="1394504"/>
            <a:ext cx="4663440"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a:solidFill>
                  <a:srgbClr val="9CA3AF"/>
                </a:solidFill>
              </a:defRPr>
            </a:lvl1pPr>
          </a:lstStyle>
          <a:p>
            <a:r>
              <a:t>Your Saturday (Feb 14) problem — exactly as written</a:t>
            </a:r>
          </a:p>
        </p:txBody>
      </p:sp>
      <p:sp>
        <p:nvSpPr>
          <p:cNvPr id="354" name="Shape 8"/>
          <p:cNvSpPr/>
          <p:nvPr/>
        </p:nvSpPr>
        <p:spPr>
          <a:xfrm>
            <a:off x="457200" y="1828800"/>
            <a:ext cx="8229600" cy="457200"/>
          </a:xfrm>
          <a:prstGeom prst="rect">
            <a:avLst/>
          </a:prstGeom>
          <a:solidFill>
            <a:srgbClr val="252547"/>
          </a:solidFill>
          <a:ln w="12700">
            <a:miter lim="400000"/>
          </a:ln>
        </p:spPr>
        <p:txBody>
          <a:bodyPr lIns="45719" rIns="45719"/>
          <a:lstStyle/>
          <a:p>
            <a:endParaRPr/>
          </a:p>
        </p:txBody>
      </p:sp>
      <p:sp>
        <p:nvSpPr>
          <p:cNvPr id="355" name="Shape 9"/>
          <p:cNvSpPr/>
          <p:nvPr/>
        </p:nvSpPr>
        <p:spPr>
          <a:xfrm>
            <a:off x="457200" y="1828800"/>
            <a:ext cx="45721" cy="457200"/>
          </a:xfrm>
          <a:prstGeom prst="rect">
            <a:avLst/>
          </a:prstGeom>
          <a:solidFill>
            <a:srgbClr val="EA580C"/>
          </a:solidFill>
          <a:ln w="12700">
            <a:miter lim="400000"/>
          </a:ln>
        </p:spPr>
        <p:txBody>
          <a:bodyPr lIns="45719" rIns="45719"/>
          <a:lstStyle/>
          <a:p>
            <a:endParaRPr/>
          </a:p>
        </p:txBody>
      </p:sp>
      <p:sp>
        <p:nvSpPr>
          <p:cNvPr id="356" name="Shape 10"/>
          <p:cNvSpPr/>
          <p:nvPr/>
        </p:nvSpPr>
        <p:spPr>
          <a:xfrm>
            <a:off x="640080" y="1892807"/>
            <a:ext cx="329185" cy="329185"/>
          </a:xfrm>
          <a:prstGeom prst="ellipse">
            <a:avLst/>
          </a:prstGeom>
          <a:solidFill>
            <a:srgbClr val="EA580C"/>
          </a:solidFill>
          <a:ln w="12700">
            <a:miter lim="400000"/>
          </a:ln>
        </p:spPr>
        <p:txBody>
          <a:bodyPr lIns="45719" rIns="45719"/>
          <a:lstStyle/>
          <a:p>
            <a:pPr>
              <a:defRPr sz="100"/>
            </a:pPr>
            <a:endParaRPr/>
          </a:p>
        </p:txBody>
      </p:sp>
      <p:sp>
        <p:nvSpPr>
          <p:cNvPr id="357" name="Text 11"/>
          <p:cNvSpPr txBox="1"/>
          <p:nvPr/>
        </p:nvSpPr>
        <p:spPr>
          <a:xfrm>
            <a:off x="685800" y="1783080"/>
            <a:ext cx="237745" cy="548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100" b="1">
                <a:solidFill>
                  <a:srgbClr val="FFFFFF"/>
                </a:solidFill>
                <a:latin typeface="Georgia"/>
                <a:ea typeface="Georgia"/>
                <a:cs typeface="Georgia"/>
                <a:sym typeface="Georgia"/>
              </a:defRPr>
            </a:lvl1pPr>
          </a:lstStyle>
          <a:p>
            <a:r>
              <a:t>2&amp;3</a:t>
            </a:r>
          </a:p>
        </p:txBody>
      </p:sp>
      <p:sp>
        <p:nvSpPr>
          <p:cNvPr id="358" name="Text 12"/>
          <p:cNvSpPr txBox="1"/>
          <p:nvPr/>
        </p:nvSpPr>
        <p:spPr>
          <a:xfrm>
            <a:off x="1143000" y="1922780"/>
            <a:ext cx="246888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FFFFFF"/>
                </a:solidFill>
                <a:latin typeface="Georgia"/>
                <a:ea typeface="Georgia"/>
                <a:cs typeface="Georgia"/>
                <a:sym typeface="Georgia"/>
              </a:defRPr>
            </a:lvl1pPr>
          </a:lstStyle>
          <a:p>
            <a:r>
              <a:t>Translation Levers (3+)</a:t>
            </a:r>
          </a:p>
        </p:txBody>
      </p:sp>
      <p:sp>
        <p:nvSpPr>
          <p:cNvPr id="359" name="Text 13"/>
          <p:cNvSpPr txBox="1"/>
          <p:nvPr/>
        </p:nvSpPr>
        <p:spPr>
          <a:xfrm>
            <a:off x="3794760" y="1943144"/>
            <a:ext cx="4663440"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a:solidFill>
                  <a:srgbClr val="9CA3AF"/>
                </a:solidFill>
              </a:defRPr>
            </a:lvl1pPr>
          </a:lstStyle>
          <a:p>
            <a:r>
              <a:t>Each lever: Before (old economics) → After (new economics)</a:t>
            </a:r>
          </a:p>
        </p:txBody>
      </p:sp>
      <p:sp>
        <p:nvSpPr>
          <p:cNvPr id="360" name="Shape 14"/>
          <p:cNvSpPr/>
          <p:nvPr/>
        </p:nvSpPr>
        <p:spPr>
          <a:xfrm>
            <a:off x="457200" y="2377439"/>
            <a:ext cx="8229600" cy="457201"/>
          </a:xfrm>
          <a:prstGeom prst="rect">
            <a:avLst/>
          </a:prstGeom>
          <a:solidFill>
            <a:srgbClr val="252547"/>
          </a:solidFill>
          <a:ln w="12700">
            <a:miter lim="400000"/>
          </a:ln>
        </p:spPr>
        <p:txBody>
          <a:bodyPr lIns="45719" rIns="45719"/>
          <a:lstStyle/>
          <a:p>
            <a:endParaRPr/>
          </a:p>
        </p:txBody>
      </p:sp>
      <p:sp>
        <p:nvSpPr>
          <p:cNvPr id="361" name="Shape 15"/>
          <p:cNvSpPr/>
          <p:nvPr/>
        </p:nvSpPr>
        <p:spPr>
          <a:xfrm>
            <a:off x="457200" y="2377439"/>
            <a:ext cx="45721" cy="457201"/>
          </a:xfrm>
          <a:prstGeom prst="rect">
            <a:avLst/>
          </a:prstGeom>
          <a:solidFill>
            <a:srgbClr val="0D9488"/>
          </a:solidFill>
          <a:ln w="12700">
            <a:miter lim="400000"/>
          </a:ln>
        </p:spPr>
        <p:txBody>
          <a:bodyPr lIns="45719" rIns="45719"/>
          <a:lstStyle/>
          <a:p>
            <a:endParaRPr/>
          </a:p>
        </p:txBody>
      </p:sp>
      <p:sp>
        <p:nvSpPr>
          <p:cNvPr id="362" name="Shape 16"/>
          <p:cNvSpPr/>
          <p:nvPr/>
        </p:nvSpPr>
        <p:spPr>
          <a:xfrm>
            <a:off x="640080" y="2441448"/>
            <a:ext cx="329185" cy="329185"/>
          </a:xfrm>
          <a:prstGeom prst="ellipse">
            <a:avLst/>
          </a:prstGeom>
          <a:solidFill>
            <a:srgbClr val="0D9488"/>
          </a:solidFill>
          <a:ln w="12700">
            <a:miter lim="400000"/>
          </a:ln>
        </p:spPr>
        <p:txBody>
          <a:bodyPr lIns="45719" rIns="45719"/>
          <a:lstStyle/>
          <a:p>
            <a:endParaRPr/>
          </a:p>
        </p:txBody>
      </p:sp>
      <p:sp>
        <p:nvSpPr>
          <p:cNvPr id="363" name="Text 17"/>
          <p:cNvSpPr txBox="1"/>
          <p:nvPr/>
        </p:nvSpPr>
        <p:spPr>
          <a:xfrm>
            <a:off x="685800" y="2465070"/>
            <a:ext cx="237745" cy="281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300" b="1">
                <a:solidFill>
                  <a:srgbClr val="FFFFFF"/>
                </a:solidFill>
                <a:latin typeface="Georgia"/>
                <a:ea typeface="Georgia"/>
                <a:cs typeface="Georgia"/>
                <a:sym typeface="Georgia"/>
              </a:defRPr>
            </a:lvl1pPr>
          </a:lstStyle>
          <a:p>
            <a:r>
              <a:t>4</a:t>
            </a:r>
          </a:p>
        </p:txBody>
      </p:sp>
      <p:sp>
        <p:nvSpPr>
          <p:cNvPr id="364" name="Text 18"/>
          <p:cNvSpPr txBox="1"/>
          <p:nvPr/>
        </p:nvSpPr>
        <p:spPr>
          <a:xfrm>
            <a:off x="1143000" y="2471419"/>
            <a:ext cx="246888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FFFFFF"/>
                </a:solidFill>
                <a:latin typeface="Georgia"/>
                <a:ea typeface="Georgia"/>
                <a:cs typeface="Georgia"/>
                <a:sym typeface="Georgia"/>
              </a:defRPr>
            </a:lvl1pPr>
          </a:lstStyle>
          <a:p>
            <a:r>
              <a:t>New Economics Rewrite</a:t>
            </a:r>
          </a:p>
        </p:txBody>
      </p:sp>
      <p:sp>
        <p:nvSpPr>
          <p:cNvPr id="365" name="Text 19"/>
          <p:cNvSpPr txBox="1"/>
          <p:nvPr/>
        </p:nvSpPr>
        <p:spPr>
          <a:xfrm>
            <a:off x="3794760" y="2491784"/>
            <a:ext cx="4663440"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a:solidFill>
                  <a:srgbClr val="9CA3AF"/>
                </a:solidFill>
              </a:defRPr>
            </a:lvl1pPr>
          </a:lstStyle>
          <a:p>
            <a:r>
              <a:t>Same problem rewritten in exponential, compounding language</a:t>
            </a:r>
          </a:p>
        </p:txBody>
      </p:sp>
      <p:sp>
        <p:nvSpPr>
          <p:cNvPr id="366" name="Shape 20"/>
          <p:cNvSpPr/>
          <p:nvPr/>
        </p:nvSpPr>
        <p:spPr>
          <a:xfrm>
            <a:off x="457200" y="2926079"/>
            <a:ext cx="8229600" cy="457201"/>
          </a:xfrm>
          <a:prstGeom prst="rect">
            <a:avLst/>
          </a:prstGeom>
          <a:solidFill>
            <a:srgbClr val="252547"/>
          </a:solidFill>
          <a:ln w="12700">
            <a:miter lim="400000"/>
          </a:ln>
        </p:spPr>
        <p:txBody>
          <a:bodyPr lIns="45719" rIns="45719"/>
          <a:lstStyle/>
          <a:p>
            <a:endParaRPr/>
          </a:p>
        </p:txBody>
      </p:sp>
      <p:sp>
        <p:nvSpPr>
          <p:cNvPr id="367" name="Shape 21"/>
          <p:cNvSpPr/>
          <p:nvPr/>
        </p:nvSpPr>
        <p:spPr>
          <a:xfrm>
            <a:off x="457200" y="2926079"/>
            <a:ext cx="45721" cy="457201"/>
          </a:xfrm>
          <a:prstGeom prst="rect">
            <a:avLst/>
          </a:prstGeom>
          <a:solidFill>
            <a:srgbClr val="2563EB"/>
          </a:solidFill>
          <a:ln w="12700">
            <a:miter lim="400000"/>
          </a:ln>
        </p:spPr>
        <p:txBody>
          <a:bodyPr lIns="45719" rIns="45719"/>
          <a:lstStyle/>
          <a:p>
            <a:endParaRPr/>
          </a:p>
        </p:txBody>
      </p:sp>
      <p:sp>
        <p:nvSpPr>
          <p:cNvPr id="368" name="Shape 22"/>
          <p:cNvSpPr/>
          <p:nvPr/>
        </p:nvSpPr>
        <p:spPr>
          <a:xfrm>
            <a:off x="640080" y="2990088"/>
            <a:ext cx="329185" cy="329185"/>
          </a:xfrm>
          <a:prstGeom prst="ellipse">
            <a:avLst/>
          </a:prstGeom>
          <a:solidFill>
            <a:srgbClr val="2563EB"/>
          </a:solidFill>
          <a:ln w="12700">
            <a:miter lim="400000"/>
          </a:ln>
        </p:spPr>
        <p:txBody>
          <a:bodyPr lIns="45719" rIns="45719"/>
          <a:lstStyle/>
          <a:p>
            <a:endParaRPr/>
          </a:p>
        </p:txBody>
      </p:sp>
      <p:sp>
        <p:nvSpPr>
          <p:cNvPr id="369" name="Text 23"/>
          <p:cNvSpPr txBox="1"/>
          <p:nvPr/>
        </p:nvSpPr>
        <p:spPr>
          <a:xfrm>
            <a:off x="685800" y="3013710"/>
            <a:ext cx="237745" cy="281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300" b="1">
                <a:solidFill>
                  <a:srgbClr val="FFFFFF"/>
                </a:solidFill>
                <a:latin typeface="Georgia"/>
                <a:ea typeface="Georgia"/>
                <a:cs typeface="Georgia"/>
                <a:sym typeface="Georgia"/>
              </a:defRPr>
            </a:lvl1pPr>
          </a:lstStyle>
          <a:p>
            <a:r>
              <a:t>5</a:t>
            </a:r>
          </a:p>
        </p:txBody>
      </p:sp>
      <p:sp>
        <p:nvSpPr>
          <p:cNvPr id="370" name="Text 24"/>
          <p:cNvSpPr txBox="1"/>
          <p:nvPr/>
        </p:nvSpPr>
        <p:spPr>
          <a:xfrm>
            <a:off x="1143000" y="3020059"/>
            <a:ext cx="246888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FFFFFF"/>
                </a:solidFill>
                <a:latin typeface="Georgia"/>
                <a:ea typeface="Georgia"/>
                <a:cs typeface="Georgia"/>
                <a:sym typeface="Georgia"/>
              </a:defRPr>
            </a:lvl1pPr>
          </a:lstStyle>
          <a:p>
            <a:r>
              <a:t>Your Economic Equation</a:t>
            </a:r>
          </a:p>
        </p:txBody>
      </p:sp>
      <p:sp>
        <p:nvSpPr>
          <p:cNvPr id="371" name="Text 25"/>
          <p:cNvSpPr txBox="1"/>
          <p:nvPr/>
        </p:nvSpPr>
        <p:spPr>
          <a:xfrm>
            <a:off x="3794760" y="3040424"/>
            <a:ext cx="4663440"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a:solidFill>
                  <a:srgbClr val="9CA3AF"/>
                </a:solidFill>
              </a:defRPr>
            </a:lvl1pPr>
          </a:lstStyle>
          <a:p>
            <a:r>
              <a:t>(Your Data × Your Algorithms) ^ Your Network Effects = Your Economics</a:t>
            </a:r>
          </a:p>
        </p:txBody>
      </p:sp>
      <p:sp>
        <p:nvSpPr>
          <p:cNvPr id="372" name="Shape 26"/>
          <p:cNvSpPr/>
          <p:nvPr/>
        </p:nvSpPr>
        <p:spPr>
          <a:xfrm>
            <a:off x="457200" y="3474720"/>
            <a:ext cx="8229600" cy="457201"/>
          </a:xfrm>
          <a:prstGeom prst="rect">
            <a:avLst/>
          </a:prstGeom>
          <a:solidFill>
            <a:srgbClr val="252547"/>
          </a:solidFill>
          <a:ln w="12700">
            <a:miter lim="400000"/>
          </a:ln>
        </p:spPr>
        <p:txBody>
          <a:bodyPr lIns="45719" rIns="45719"/>
          <a:lstStyle/>
          <a:p>
            <a:endParaRPr/>
          </a:p>
        </p:txBody>
      </p:sp>
      <p:sp>
        <p:nvSpPr>
          <p:cNvPr id="373" name="Shape 27"/>
          <p:cNvSpPr/>
          <p:nvPr/>
        </p:nvSpPr>
        <p:spPr>
          <a:xfrm>
            <a:off x="457200" y="3474720"/>
            <a:ext cx="45721" cy="457201"/>
          </a:xfrm>
          <a:prstGeom prst="rect">
            <a:avLst/>
          </a:prstGeom>
          <a:solidFill>
            <a:srgbClr val="7C3AED"/>
          </a:solidFill>
          <a:ln w="12700">
            <a:miter lim="400000"/>
          </a:ln>
        </p:spPr>
        <p:txBody>
          <a:bodyPr lIns="45719" rIns="45719"/>
          <a:lstStyle/>
          <a:p>
            <a:endParaRPr/>
          </a:p>
        </p:txBody>
      </p:sp>
      <p:sp>
        <p:nvSpPr>
          <p:cNvPr id="374" name="Shape 28"/>
          <p:cNvSpPr/>
          <p:nvPr/>
        </p:nvSpPr>
        <p:spPr>
          <a:xfrm>
            <a:off x="640080" y="3538728"/>
            <a:ext cx="329185" cy="329185"/>
          </a:xfrm>
          <a:prstGeom prst="ellipse">
            <a:avLst/>
          </a:prstGeom>
          <a:solidFill>
            <a:srgbClr val="7C3AED"/>
          </a:solidFill>
          <a:ln w="12700">
            <a:miter lim="400000"/>
          </a:ln>
        </p:spPr>
        <p:txBody>
          <a:bodyPr lIns="45719" rIns="45719"/>
          <a:lstStyle/>
          <a:p>
            <a:endParaRPr/>
          </a:p>
        </p:txBody>
      </p:sp>
      <p:sp>
        <p:nvSpPr>
          <p:cNvPr id="375" name="Text 29"/>
          <p:cNvSpPr txBox="1"/>
          <p:nvPr/>
        </p:nvSpPr>
        <p:spPr>
          <a:xfrm>
            <a:off x="685800" y="3562350"/>
            <a:ext cx="237745" cy="281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300" b="1">
                <a:solidFill>
                  <a:srgbClr val="FFFFFF"/>
                </a:solidFill>
                <a:latin typeface="Georgia"/>
                <a:ea typeface="Georgia"/>
                <a:cs typeface="Georgia"/>
                <a:sym typeface="Georgia"/>
              </a:defRPr>
            </a:lvl1pPr>
          </a:lstStyle>
          <a:p>
            <a:r>
              <a:t>6</a:t>
            </a:r>
          </a:p>
        </p:txBody>
      </p:sp>
      <p:sp>
        <p:nvSpPr>
          <p:cNvPr id="376" name="Text 30"/>
          <p:cNvSpPr txBox="1"/>
          <p:nvPr/>
        </p:nvSpPr>
        <p:spPr>
          <a:xfrm>
            <a:off x="1143000" y="3568700"/>
            <a:ext cx="246888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FFFFFF"/>
                </a:solidFill>
                <a:latin typeface="Georgia"/>
                <a:ea typeface="Georgia"/>
                <a:cs typeface="Georgia"/>
                <a:sym typeface="Georgia"/>
              </a:defRPr>
            </a:lvl1pPr>
          </a:lstStyle>
          <a:p>
            <a:r>
              <a:t>FP × JTBD</a:t>
            </a:r>
          </a:p>
        </p:txBody>
      </p:sp>
      <p:sp>
        <p:nvSpPr>
          <p:cNvPr id="377" name="Text 31"/>
          <p:cNvSpPr txBox="1"/>
          <p:nvPr/>
        </p:nvSpPr>
        <p:spPr>
          <a:xfrm>
            <a:off x="3794760" y="3589064"/>
            <a:ext cx="4663440"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a:solidFill>
                  <a:srgbClr val="9CA3AF"/>
                </a:solidFill>
              </a:defRPr>
            </a:lvl1pPr>
          </a:lstStyle>
          <a:p>
            <a:r>
              <a:t>Irreducible truth (FP) + Job statement, hiring/firing (JTBD)</a:t>
            </a:r>
          </a:p>
        </p:txBody>
      </p:sp>
      <p:sp>
        <p:nvSpPr>
          <p:cNvPr id="378" name="Shape 32"/>
          <p:cNvSpPr/>
          <p:nvPr/>
        </p:nvSpPr>
        <p:spPr>
          <a:xfrm>
            <a:off x="457200" y="4023359"/>
            <a:ext cx="8229600" cy="457201"/>
          </a:xfrm>
          <a:prstGeom prst="rect">
            <a:avLst/>
          </a:prstGeom>
          <a:solidFill>
            <a:srgbClr val="252547"/>
          </a:solidFill>
          <a:ln w="12700">
            <a:miter lim="400000"/>
          </a:ln>
        </p:spPr>
        <p:txBody>
          <a:bodyPr lIns="45719" rIns="45719"/>
          <a:lstStyle/>
          <a:p>
            <a:endParaRPr/>
          </a:p>
        </p:txBody>
      </p:sp>
      <p:sp>
        <p:nvSpPr>
          <p:cNvPr id="379" name="Shape 33"/>
          <p:cNvSpPr/>
          <p:nvPr/>
        </p:nvSpPr>
        <p:spPr>
          <a:xfrm>
            <a:off x="457200" y="4023359"/>
            <a:ext cx="45721" cy="457201"/>
          </a:xfrm>
          <a:prstGeom prst="rect">
            <a:avLst/>
          </a:prstGeom>
          <a:solidFill>
            <a:srgbClr val="059669"/>
          </a:solidFill>
          <a:ln w="12700">
            <a:miter lim="400000"/>
          </a:ln>
        </p:spPr>
        <p:txBody>
          <a:bodyPr lIns="45719" rIns="45719"/>
          <a:lstStyle/>
          <a:p>
            <a:endParaRPr/>
          </a:p>
        </p:txBody>
      </p:sp>
      <p:sp>
        <p:nvSpPr>
          <p:cNvPr id="380" name="Shape 34"/>
          <p:cNvSpPr/>
          <p:nvPr/>
        </p:nvSpPr>
        <p:spPr>
          <a:xfrm>
            <a:off x="640080" y="4087367"/>
            <a:ext cx="329185" cy="329185"/>
          </a:xfrm>
          <a:prstGeom prst="ellipse">
            <a:avLst/>
          </a:prstGeom>
          <a:solidFill>
            <a:srgbClr val="059669"/>
          </a:solidFill>
          <a:ln w="12700">
            <a:miter lim="400000"/>
          </a:ln>
        </p:spPr>
        <p:txBody>
          <a:bodyPr lIns="45719" rIns="45719"/>
          <a:lstStyle/>
          <a:p>
            <a:endParaRPr/>
          </a:p>
        </p:txBody>
      </p:sp>
      <p:sp>
        <p:nvSpPr>
          <p:cNvPr id="381" name="Text 35"/>
          <p:cNvSpPr txBox="1"/>
          <p:nvPr/>
        </p:nvSpPr>
        <p:spPr>
          <a:xfrm>
            <a:off x="685800" y="4110989"/>
            <a:ext cx="237745" cy="281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300" b="1">
                <a:solidFill>
                  <a:srgbClr val="FFFFFF"/>
                </a:solidFill>
                <a:latin typeface="Georgia"/>
                <a:ea typeface="Georgia"/>
                <a:cs typeface="Georgia"/>
                <a:sym typeface="Georgia"/>
              </a:defRPr>
            </a:lvl1pPr>
          </a:lstStyle>
          <a:p>
            <a:r>
              <a:t>7</a:t>
            </a:r>
          </a:p>
        </p:txBody>
      </p:sp>
      <p:sp>
        <p:nvSpPr>
          <p:cNvPr id="382" name="Text 36"/>
          <p:cNvSpPr txBox="1"/>
          <p:nvPr/>
        </p:nvSpPr>
        <p:spPr>
          <a:xfrm>
            <a:off x="1143000" y="4117339"/>
            <a:ext cx="246888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b="1">
                <a:solidFill>
                  <a:srgbClr val="FFFFFF"/>
                </a:solidFill>
                <a:latin typeface="Georgia"/>
                <a:ea typeface="Georgia"/>
                <a:cs typeface="Georgia"/>
                <a:sym typeface="Georgia"/>
              </a:defRPr>
            </a:lvl1pPr>
          </a:lstStyle>
          <a:p>
            <a:r>
              <a:t>Extraordinary Problem</a:t>
            </a:r>
          </a:p>
        </p:txBody>
      </p:sp>
      <p:sp>
        <p:nvSpPr>
          <p:cNvPr id="383" name="Text 37"/>
          <p:cNvSpPr txBox="1"/>
          <p:nvPr/>
        </p:nvSpPr>
        <p:spPr>
          <a:xfrm>
            <a:off x="3794760" y="4137704"/>
            <a:ext cx="4663440" cy="228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000">
                <a:solidFill>
                  <a:srgbClr val="9CA3AF"/>
                </a:solidFill>
              </a:defRPr>
            </a:lvl1pPr>
          </a:lstStyle>
          <a:p>
            <a:r>
              <a:t>What should exist but doesn't — non-obvious, 10× value, compounding</a:t>
            </a:r>
          </a:p>
        </p:txBody>
      </p:sp>
      <p:sp>
        <p:nvSpPr>
          <p:cNvPr id="384" name="Text 38"/>
          <p:cNvSpPr txBox="1"/>
          <p:nvPr/>
        </p:nvSpPr>
        <p:spPr>
          <a:xfrm>
            <a:off x="594360" y="4536439"/>
            <a:ext cx="7955279" cy="345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b="1">
                <a:solidFill>
                  <a:srgbClr val="D97706"/>
                </a:solidFill>
              </a:defRPr>
            </a:lvl1pPr>
          </a:lstStyle>
          <a:p>
            <a:r>
              <a:t>⏱ 30–45 minutes  |  📅 Due before Session 3  |  Submit PPT in LMS</a:t>
            </a:r>
          </a:p>
        </p:txBody>
      </p:sp>
      <p:sp>
        <p:nvSpPr>
          <p:cNvPr id="385" name="Text 39"/>
          <p:cNvSpPr txBox="1"/>
          <p:nvPr/>
        </p:nvSpPr>
        <p:spPr>
          <a:xfrm>
            <a:off x="594360" y="4839751"/>
            <a:ext cx="7955279" cy="196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800">
                <a:solidFill>
                  <a:srgbClr val="555577"/>
                </a:solidFill>
              </a:defRPr>
            </a:lvl1pPr>
          </a:lstStyle>
          <a:p>
            <a:r>
              <a:t>Session 2 Assignment  |  Extraordinary Problem |  FDE Program Batch 1  |  IIT Roorkee</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345</TotalTime>
  <Words>4251</Words>
  <Application>Microsoft Office PowerPoint</Application>
  <PresentationFormat>On-screen Show (16:9)</PresentationFormat>
  <Paragraphs>408</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Rajarajan</dc:creator>
  <cp:lastModifiedBy>Rajarajan Venkatesan</cp:lastModifiedBy>
  <cp:revision>1</cp:revision>
  <dcterms:modified xsi:type="dcterms:W3CDTF">2026-05-16T05:39:07Z</dcterms:modified>
</cp:coreProperties>
</file>